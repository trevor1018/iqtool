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2" r:id="rId3"/>
    <p:sldId id="257" r:id="rId4"/>
    <p:sldId id="259" r:id="rId5"/>
    <p:sldId id="261" r:id="rId6"/>
    <p:sldId id="258" r:id="rId7"/>
    <p:sldId id="263" r:id="rId8"/>
    <p:sldId id="264" r:id="rId9"/>
    <p:sldId id="284" r:id="rId10"/>
    <p:sldId id="283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797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9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6A62381-3C9D-4945-BC09-2D0C2EC8C0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4B845AC-7D99-4ECD-B835-1427C66822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638A109-42B9-4466-A7ED-8A5EFDA34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E88E216-1BC0-44C2-BD9B-E1332F741A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8BFCCF4-E999-40F4-BC19-7A28A9D2E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85695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4E7B746-23B6-4394-9858-9156140232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9736164-9D6C-40A5-BF00-D3C8C06200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5C8734-0972-43D7-B363-F9CF4AA67C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BE497E-A147-40BF-97AA-9318F13BC1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AD86901-8688-4A43-ABAB-95378B72C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49792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6939DB-F452-473F-ACA7-354848111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455BE79-938C-45E1-AE02-D812D77C11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73C20C-86C6-4D3D-9174-DAD907F78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CD99D9-51FA-4536-A301-9B7DF703C8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263A182-88ED-4A2B-B432-7EEDFF4E49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91855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6611B-AF50-4FB5-9420-DD6F5C755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9C8684-B392-4EA5-A992-CC658008C4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3A90F4A-F7F0-4D86-90D8-0F0FB37AC6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D130C11-AB93-4E3D-B5B1-44ECDE6DF8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DCB5A19-10E3-41D1-8EA2-5929E778F0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D602FEB-2086-4831-9074-7E86763CC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410532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C3BE85F-6EEA-4433-9B78-90DC39057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69E4EF1-334F-4C5E-919F-45559B8509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A4331688-8C8A-401B-A0E4-7EE04F37E5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A8249110-9FE4-4F2C-B15D-A8821E12F5F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EE0FFAD-6D7A-43A4-8E3B-DE421E9330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56C54A9B-7ECB-45F5-8D34-A8BBABAEE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1CB8176-6EC3-49B6-BBD1-6E0950EC3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849FA338-5B14-470A-980D-2F3AEADD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745283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3E83D-6A5D-448D-8BE9-7FAEF8496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EEE4DE06-45DD-47A8-A013-E7EA95CDA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A58C1F-9B68-4111-8FBE-5D021996EA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25394098-6C45-4D75-A54B-4A8D64CB1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516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9BC111F-9F7A-420F-BD35-F6D8365DB7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2859D94-200F-4DEA-85D4-335684FDF7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F24B514-2A58-45A2-93F3-7ED151D88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0723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2D69B9-C7FF-4F35-94EF-9625DFA95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850558-A765-4CDA-ABE2-0C6A16C4CF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8DFDAAA-BEDB-47A5-AA3F-8D679CB90F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EE39879-777F-4AC3-98EF-944579F47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108C157-2E9E-4A3B-BAE5-FE7EB483A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BC23638-C950-4BF2-AD89-F9B21CC7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493031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C4884C9-A5B5-423F-9075-D5C80038D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E9BD9EB3-0D63-477B-90DA-C6EDF3C3F4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EE48965-98C4-455C-95D3-F622B4D9FB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37D545-503B-497B-AB6C-8978C9902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CEEE814-1036-4C39-B0E2-429549ACD6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C74F95-532F-4B70-9308-E502ED5A9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57787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D46394B-61CF-4747-8FE4-947249308C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FD663A06-571D-4E38-84F6-99220D6114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CACF099-635F-4449-94D3-3FE107FA0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6B8CEF-9AA2-45BF-8589-4D2782F35A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C5115EF-BFC7-426B-8284-A5FB74812D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6069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363788D-25FE-44CE-A196-4E1912DDF6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7E766A3-E87B-41CF-B6F5-1784E772EA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4F4DF0F-5240-4333-BF7F-BA968A29E0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3806626-2C8D-4EA3-B907-775048455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EE28938-4C30-48F9-BAEC-131FBC2EB6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78486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D93AD5F-154F-4711-B119-28C4EBC40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B086ED-0E1C-4ED0-A056-CC06394DA8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DB4A88-AD94-424D-BE38-14B4E298C74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3BDF19-97CE-42B7-8B41-3ACA8FA3FA6A}" type="datetimeFigureOut">
              <a:rPr lang="zh-TW" altLang="en-US" smtClean="0"/>
              <a:t>2022/11/3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ADE10CE-ADA0-426F-9BA2-0CB7EBD03E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158B90-6434-4CB2-8EB1-AAD8701C32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E3F5D9-7666-4F4E-BD81-A25F6C9B694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4627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www.brucelindbloom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emf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AED560F-8D37-4C9B-A6B1-332B91ACAE8A}"/>
              </a:ext>
            </a:extLst>
          </p:cNvPr>
          <p:cNvSpPr txBox="1">
            <a:spLocks/>
          </p:cNvSpPr>
          <p:nvPr/>
        </p:nvSpPr>
        <p:spPr>
          <a:xfrm>
            <a:off x="1676400" y="1274763"/>
            <a:ext cx="9144000" cy="23876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 sz="4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 simulator using Guide</a:t>
            </a:r>
            <a:endParaRPr lang="zh-TW" altLang="en-US" sz="4800" b="1" dirty="0"/>
          </a:p>
        </p:txBody>
      </p:sp>
      <p:sp>
        <p:nvSpPr>
          <p:cNvPr id="5" name="副標題 2">
            <a:extLst>
              <a:ext uri="{FF2B5EF4-FFF2-40B4-BE49-F238E27FC236}">
                <a16:creationId xmlns:a16="http://schemas.microsoft.com/office/drawing/2014/main" id="{BF3EF58A-5349-4BE6-892C-FED0A2AD7325}"/>
              </a:ext>
            </a:extLst>
          </p:cNvPr>
          <p:cNvSpPr txBox="1">
            <a:spLocks/>
          </p:cNvSpPr>
          <p:nvPr/>
        </p:nvSpPr>
        <p:spPr>
          <a:xfrm>
            <a:off x="1676400" y="3754438"/>
            <a:ext cx="9144000" cy="1655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TW" dirty="0"/>
              <a:t>Trevor</a:t>
            </a:r>
          </a:p>
          <a:p>
            <a:r>
              <a:rPr lang="en-US" altLang="zh-TW" dirty="0"/>
              <a:t>2021/12/02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5230036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94955B32-55C2-4DF8-BE51-3645F6E7DF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48595"/>
            <a:ext cx="9144000" cy="658311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History</a:t>
            </a:r>
            <a:endParaRPr lang="zh-TW" altLang="en-US" sz="3600" dirty="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A8068E38-D353-452E-B2C1-BBF3F2117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6609500"/>
              </p:ext>
            </p:extLst>
          </p:nvPr>
        </p:nvGraphicFramePr>
        <p:xfrm>
          <a:off x="545432" y="1297181"/>
          <a:ext cx="11101136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68905">
                  <a:extLst>
                    <a:ext uri="{9D8B030D-6E8A-4147-A177-3AD203B41FA5}">
                      <a16:colId xmlns:a16="http://schemas.microsoft.com/office/drawing/2014/main" val="3373944618"/>
                    </a:ext>
                  </a:extLst>
                </a:gridCol>
                <a:gridCol w="2149642">
                  <a:extLst>
                    <a:ext uri="{9D8B030D-6E8A-4147-A177-3AD203B41FA5}">
                      <a16:colId xmlns:a16="http://schemas.microsoft.com/office/drawing/2014/main" val="1131802437"/>
                    </a:ext>
                  </a:extLst>
                </a:gridCol>
                <a:gridCol w="4307305">
                  <a:extLst>
                    <a:ext uri="{9D8B030D-6E8A-4147-A177-3AD203B41FA5}">
                      <a16:colId xmlns:a16="http://schemas.microsoft.com/office/drawing/2014/main" val="1771082942"/>
                    </a:ext>
                  </a:extLst>
                </a:gridCol>
                <a:gridCol w="2775284">
                  <a:extLst>
                    <a:ext uri="{9D8B030D-6E8A-4147-A177-3AD203B41FA5}">
                      <a16:colId xmlns:a16="http://schemas.microsoft.com/office/drawing/2014/main" val="21767306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Version number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Author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Modification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Date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64466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V1.0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Trevor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 First release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2021/12/22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096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V2.0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Trevor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 </a:t>
                      </a:r>
                      <a:r>
                        <a:rPr lang="zh-TW" altLang="en-US" dirty="0"/>
                        <a:t>新增規劃求解說明</a:t>
                      </a:r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2022/10/31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417351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altLang="zh-TW" dirty="0"/>
                        <a:t>V2.1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Trevor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1. </a:t>
                      </a:r>
                      <a:r>
                        <a:rPr lang="zh-TW" altLang="en-US" dirty="0"/>
                        <a:t>新增</a:t>
                      </a:r>
                      <a:r>
                        <a:rPr lang="en-US" altLang="zh-TW" dirty="0"/>
                        <a:t>CCM</a:t>
                      </a:r>
                      <a:r>
                        <a:rPr lang="zh-TW" altLang="en-US" dirty="0"/>
                        <a:t>求解前的</a:t>
                      </a:r>
                      <a:r>
                        <a:rPr lang="en-US" altLang="zh-TW" dirty="0"/>
                        <a:t>AWB</a:t>
                      </a:r>
                      <a:r>
                        <a:rPr lang="zh-TW" altLang="en-US" dirty="0"/>
                        <a:t>求解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dirty="0"/>
                        <a:t>2022/11/03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26064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5614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349450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altLang="zh-TW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5155252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04289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A8336AF-05D3-4BF7-9DB7-ACECD17345E1}"/>
              </a:ext>
            </a:extLst>
          </p:cNvPr>
          <p:cNvSpPr txBox="1">
            <a:spLocks/>
          </p:cNvSpPr>
          <p:nvPr/>
        </p:nvSpPr>
        <p:spPr>
          <a:xfrm>
            <a:off x="567265" y="1421149"/>
            <a:ext cx="10910359" cy="10705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1.  Color Correction Matrix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目的：讓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色彩對應人眼色彩</a:t>
            </a: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Color correction matrix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9B035EF-5DDB-4A6C-B953-F07042732C14}"/>
              </a:ext>
            </a:extLst>
          </p:cNvPr>
          <p:cNvSpPr txBox="1"/>
          <p:nvPr/>
        </p:nvSpPr>
        <p:spPr>
          <a:xfrm>
            <a:off x="567265" y="5733659"/>
            <a:ext cx="7356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Math: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  <a:hlinkClick r:id="rId2"/>
              </a:rPr>
              <a:t>http://www.brucelindbloom.com</a:t>
            </a:r>
            <a:endParaRPr kumimoji="1" lang="en-US" altLang="zh-TW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grpSp>
        <p:nvGrpSpPr>
          <p:cNvPr id="36" name="群組 35">
            <a:extLst>
              <a:ext uri="{FF2B5EF4-FFF2-40B4-BE49-F238E27FC236}">
                <a16:creationId xmlns:a16="http://schemas.microsoft.com/office/drawing/2014/main" id="{1D34611E-6343-48DA-BC03-3D176C57F64C}"/>
              </a:ext>
            </a:extLst>
          </p:cNvPr>
          <p:cNvGrpSpPr/>
          <p:nvPr/>
        </p:nvGrpSpPr>
        <p:grpSpPr>
          <a:xfrm>
            <a:off x="1200136" y="3397517"/>
            <a:ext cx="9709348" cy="1951713"/>
            <a:chOff x="1200136" y="3292742"/>
            <a:chExt cx="9709348" cy="1951713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id="{159C9FA3-7FE1-4E88-832E-575EDC9F7C00}"/>
                </a:ext>
              </a:extLst>
            </p:cNvPr>
            <p:cNvSpPr/>
            <p:nvPr/>
          </p:nvSpPr>
          <p:spPr>
            <a:xfrm>
              <a:off x="1271582" y="3634616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EA0BCC44-6B62-4DFC-B130-5CC4ECB810FD}"/>
                </a:ext>
              </a:extLst>
            </p:cNvPr>
            <p:cNvSpPr txBox="1"/>
            <p:nvPr/>
          </p:nvSpPr>
          <p:spPr>
            <a:xfrm>
              <a:off x="1322331" y="3715770"/>
              <a:ext cx="121689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Sensor</a:t>
              </a:r>
            </a:p>
            <a:p>
              <a:pPr algn="ctr"/>
              <a:r>
                <a:rPr kumimoji="1" lang="en-US" altLang="zh-TW" sz="2400" dirty="0"/>
                <a:t>RGB</a:t>
              </a:r>
              <a:endParaRPr kumimoji="1" lang="zh-TW" altLang="en-US" sz="2400" dirty="0"/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20AA82DF-B032-4A5E-99AF-426F92D0BCF2}"/>
                </a:ext>
              </a:extLst>
            </p:cNvPr>
            <p:cNvSpPr/>
            <p:nvPr/>
          </p:nvSpPr>
          <p:spPr>
            <a:xfrm>
              <a:off x="7338619" y="3634616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8" name="文字方塊 47">
              <a:extLst>
                <a:ext uri="{FF2B5EF4-FFF2-40B4-BE49-F238E27FC236}">
                  <a16:creationId xmlns:a16="http://schemas.microsoft.com/office/drawing/2014/main" id="{CF094DE0-9C6D-4C17-B623-99B20BE2F515}"/>
                </a:ext>
              </a:extLst>
            </p:cNvPr>
            <p:cNvSpPr txBox="1"/>
            <p:nvPr/>
          </p:nvSpPr>
          <p:spPr>
            <a:xfrm>
              <a:off x="7557970" y="3713522"/>
              <a:ext cx="919227" cy="850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linear</a:t>
              </a:r>
            </a:p>
            <a:p>
              <a:pPr algn="ctr"/>
              <a:r>
                <a:rPr kumimoji="1" lang="en-US" altLang="zh-TW" sz="2400" dirty="0"/>
                <a:t>RGB</a:t>
              </a:r>
              <a:endParaRPr kumimoji="1" lang="zh-TW" altLang="en-US" sz="2400" dirty="0"/>
            </a:p>
          </p:txBody>
        </p:sp>
        <p:sp>
          <p:nvSpPr>
            <p:cNvPr id="49" name="矩形 48">
              <a:extLst>
                <a:ext uri="{FF2B5EF4-FFF2-40B4-BE49-F238E27FC236}">
                  <a16:creationId xmlns:a16="http://schemas.microsoft.com/office/drawing/2014/main" id="{84010126-FC15-4DEF-9B9D-2475C45B3965}"/>
                </a:ext>
              </a:extLst>
            </p:cNvPr>
            <p:cNvSpPr/>
            <p:nvPr/>
          </p:nvSpPr>
          <p:spPr>
            <a:xfrm>
              <a:off x="3159035" y="3634616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C4ECED0-D3B7-49CA-AFEF-CE63E73F35EA}"/>
                </a:ext>
              </a:extLst>
            </p:cNvPr>
            <p:cNvSpPr txBox="1"/>
            <p:nvPr/>
          </p:nvSpPr>
          <p:spPr>
            <a:xfrm>
              <a:off x="3358618" y="3898292"/>
              <a:ext cx="919227" cy="46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RGB</a:t>
              </a:r>
              <a:endParaRPr kumimoji="1" lang="zh-TW" altLang="en-US" sz="2400" dirty="0"/>
            </a:p>
          </p:txBody>
        </p:sp>
        <p:sp>
          <p:nvSpPr>
            <p:cNvPr id="51" name="文字方塊 50">
              <a:extLst>
                <a:ext uri="{FF2B5EF4-FFF2-40B4-BE49-F238E27FC236}">
                  <a16:creationId xmlns:a16="http://schemas.microsoft.com/office/drawing/2014/main" id="{6BC393F9-36C6-400B-9157-AE58C1E15B60}"/>
                </a:ext>
              </a:extLst>
            </p:cNvPr>
            <p:cNvSpPr txBox="1"/>
            <p:nvPr/>
          </p:nvSpPr>
          <p:spPr>
            <a:xfrm>
              <a:off x="7338620" y="4936678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0~1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2" name="文字方塊 51">
              <a:extLst>
                <a:ext uri="{FF2B5EF4-FFF2-40B4-BE49-F238E27FC236}">
                  <a16:creationId xmlns:a16="http://schemas.microsoft.com/office/drawing/2014/main" id="{9C039544-7238-46D5-B9D7-53B776FB2A0E}"/>
                </a:ext>
              </a:extLst>
            </p:cNvPr>
            <p:cNvSpPr txBox="1"/>
            <p:nvPr/>
          </p:nvSpPr>
          <p:spPr>
            <a:xfrm>
              <a:off x="1200136" y="3292742"/>
              <a:ext cx="14669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Raw domain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cxnSp>
          <p:nvCxnSpPr>
            <p:cNvPr id="53" name="直線箭頭接點 62">
              <a:extLst>
                <a:ext uri="{FF2B5EF4-FFF2-40B4-BE49-F238E27FC236}">
                  <a16:creationId xmlns:a16="http://schemas.microsoft.com/office/drawing/2014/main" id="{3A3FFBDA-237E-4080-BB6E-AD1CB07519C8}"/>
                </a:ext>
              </a:extLst>
            </p:cNvPr>
            <p:cNvCxnSpPr>
              <a:cxnSpLocks/>
            </p:cNvCxnSpPr>
            <p:nvPr/>
          </p:nvCxnSpPr>
          <p:spPr>
            <a:xfrm>
              <a:off x="6710299" y="4129013"/>
              <a:ext cx="582754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1BB20021-03AC-4641-9EAB-7B0AB102DA00}"/>
                </a:ext>
              </a:extLst>
            </p:cNvPr>
            <p:cNvSpPr/>
            <p:nvPr/>
          </p:nvSpPr>
          <p:spPr>
            <a:xfrm>
              <a:off x="9513932" y="3634616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B9543D62-DFCF-4698-8CEA-60454DEFE7B3}"/>
                </a:ext>
              </a:extLst>
            </p:cNvPr>
            <p:cNvSpPr txBox="1"/>
            <p:nvPr/>
          </p:nvSpPr>
          <p:spPr>
            <a:xfrm>
              <a:off x="9564681" y="3912052"/>
              <a:ext cx="12168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sRGB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4BE45348-5F71-4C4D-A318-671AF34EE89B}"/>
                </a:ext>
              </a:extLst>
            </p:cNvPr>
            <p:cNvSpPr txBox="1"/>
            <p:nvPr/>
          </p:nvSpPr>
          <p:spPr>
            <a:xfrm>
              <a:off x="9513932" y="4936678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0~255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A9469C0C-7F4A-4967-82C9-4C96A1C397C9}"/>
                </a:ext>
              </a:extLst>
            </p:cNvPr>
            <p:cNvSpPr txBox="1"/>
            <p:nvPr/>
          </p:nvSpPr>
          <p:spPr>
            <a:xfrm>
              <a:off x="9442486" y="3292742"/>
              <a:ext cx="14669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由</a:t>
              </a:r>
              <a:r>
                <a:rPr kumimoji="1" lang="zh-TW" altLang="en-US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設備定義</a:t>
              </a:r>
            </a:p>
          </p:txBody>
        </p:sp>
        <p:sp>
          <p:nvSpPr>
            <p:cNvPr id="58" name="文字方塊 57">
              <a:extLst>
                <a:ext uri="{FF2B5EF4-FFF2-40B4-BE49-F238E27FC236}">
                  <a16:creationId xmlns:a16="http://schemas.microsoft.com/office/drawing/2014/main" id="{D21FC874-AF3E-47D6-B451-6F884AD9A8E2}"/>
                </a:ext>
              </a:extLst>
            </p:cNvPr>
            <p:cNvSpPr txBox="1"/>
            <p:nvPr/>
          </p:nvSpPr>
          <p:spPr>
            <a:xfrm>
              <a:off x="6271681" y="3855284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Matrix</a:t>
              </a:r>
              <a:endParaRPr kumimoji="1" lang="zh-TW" altLang="en-US" sz="1400" dirty="0"/>
            </a:p>
          </p:txBody>
        </p:sp>
        <p:cxnSp>
          <p:nvCxnSpPr>
            <p:cNvPr id="59" name="直線箭頭接點 68">
              <a:extLst>
                <a:ext uri="{FF2B5EF4-FFF2-40B4-BE49-F238E27FC236}">
                  <a16:creationId xmlns:a16="http://schemas.microsoft.com/office/drawing/2014/main" id="{7F46DE9A-B6F0-499C-B928-B3B47A5629BC}"/>
                </a:ext>
              </a:extLst>
            </p:cNvPr>
            <p:cNvCxnSpPr>
              <a:cxnSpLocks/>
            </p:cNvCxnSpPr>
            <p:nvPr/>
          </p:nvCxnSpPr>
          <p:spPr>
            <a:xfrm>
              <a:off x="8717699" y="4127987"/>
              <a:ext cx="725712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A93783F6-68E0-4150-816B-23C4C566CE66}"/>
                </a:ext>
              </a:extLst>
            </p:cNvPr>
            <p:cNvSpPr txBox="1"/>
            <p:nvPr/>
          </p:nvSpPr>
          <p:spPr>
            <a:xfrm>
              <a:off x="8343442" y="3854258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gamma</a:t>
              </a:r>
              <a:endParaRPr kumimoji="1" lang="zh-TW" altLang="en-US" sz="1400" dirty="0"/>
            </a:p>
          </p:txBody>
        </p:sp>
        <p:cxnSp>
          <p:nvCxnSpPr>
            <p:cNvPr id="61" name="直線箭頭接點 39">
              <a:extLst>
                <a:ext uri="{FF2B5EF4-FFF2-40B4-BE49-F238E27FC236}">
                  <a16:creationId xmlns:a16="http://schemas.microsoft.com/office/drawing/2014/main" id="{96ACC2B1-77C5-41CD-9A73-B7215466D766}"/>
                </a:ext>
              </a:extLst>
            </p:cNvPr>
            <p:cNvCxnSpPr>
              <a:cxnSpLocks/>
            </p:cNvCxnSpPr>
            <p:nvPr/>
          </p:nvCxnSpPr>
          <p:spPr>
            <a:xfrm>
              <a:off x="2647001" y="4137924"/>
              <a:ext cx="467185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文字方塊 61">
              <a:extLst>
                <a:ext uri="{FF2B5EF4-FFF2-40B4-BE49-F238E27FC236}">
                  <a16:creationId xmlns:a16="http://schemas.microsoft.com/office/drawing/2014/main" id="{286ABFC5-522C-4667-89B7-DC2211D05ABB}"/>
                </a:ext>
              </a:extLst>
            </p:cNvPr>
            <p:cNvSpPr txBox="1"/>
            <p:nvPr/>
          </p:nvSpPr>
          <p:spPr>
            <a:xfrm>
              <a:off x="2138289" y="3864195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>
                  <a:solidFill>
                    <a:schemeClr val="accent2">
                      <a:lumMod val="75000"/>
                    </a:schemeClr>
                  </a:solidFill>
                </a:rPr>
                <a:t>CCM</a:t>
              </a:r>
              <a:endParaRPr kumimoji="1" lang="zh-TW" alt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D9B16EB2-FE62-47F4-A89D-272BEC9EC071}"/>
                </a:ext>
              </a:extLst>
            </p:cNvPr>
            <p:cNvSpPr/>
            <p:nvPr/>
          </p:nvSpPr>
          <p:spPr>
            <a:xfrm>
              <a:off x="5313840" y="3632268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4" name="文字方塊 63">
              <a:extLst>
                <a:ext uri="{FF2B5EF4-FFF2-40B4-BE49-F238E27FC236}">
                  <a16:creationId xmlns:a16="http://schemas.microsoft.com/office/drawing/2014/main" id="{B9CC4910-BC09-4D2D-B036-B1E93343CF9C}"/>
                </a:ext>
              </a:extLst>
            </p:cNvPr>
            <p:cNvSpPr txBox="1"/>
            <p:nvPr/>
          </p:nvSpPr>
          <p:spPr>
            <a:xfrm>
              <a:off x="5513423" y="3895944"/>
              <a:ext cx="919227" cy="46144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XYZ</a:t>
              </a:r>
              <a:endParaRPr kumimoji="1" lang="zh-TW" altLang="en-US" sz="2400" dirty="0"/>
            </a:p>
          </p:txBody>
        </p:sp>
        <p:cxnSp>
          <p:nvCxnSpPr>
            <p:cNvPr id="65" name="直線箭頭接點 68">
              <a:extLst>
                <a:ext uri="{FF2B5EF4-FFF2-40B4-BE49-F238E27FC236}">
                  <a16:creationId xmlns:a16="http://schemas.microsoft.com/office/drawing/2014/main" id="{1CF3AFCE-68A2-478A-838B-F5520596023B}"/>
                </a:ext>
              </a:extLst>
            </p:cNvPr>
            <p:cNvCxnSpPr>
              <a:cxnSpLocks/>
            </p:cNvCxnSpPr>
            <p:nvPr/>
          </p:nvCxnSpPr>
          <p:spPr>
            <a:xfrm>
              <a:off x="4537801" y="4130168"/>
              <a:ext cx="725712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793C3B97-0BE0-4DBA-A451-ADAC030B880B}"/>
                </a:ext>
              </a:extLst>
            </p:cNvPr>
            <p:cNvSpPr txBox="1"/>
            <p:nvPr/>
          </p:nvSpPr>
          <p:spPr>
            <a:xfrm>
              <a:off x="4163544" y="3856439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gamma</a:t>
              </a:r>
              <a:endParaRPr kumimoji="1" lang="zh-TW" altLang="en-US" sz="1400" dirty="0"/>
            </a:p>
          </p:txBody>
        </p:sp>
        <p:sp>
          <p:nvSpPr>
            <p:cNvPr id="67" name="文字方塊 66">
              <a:extLst>
                <a:ext uri="{FF2B5EF4-FFF2-40B4-BE49-F238E27FC236}">
                  <a16:creationId xmlns:a16="http://schemas.microsoft.com/office/drawing/2014/main" id="{3C97444D-8063-4080-80B2-FCE180310B94}"/>
                </a:ext>
              </a:extLst>
            </p:cNvPr>
            <p:cNvSpPr txBox="1"/>
            <p:nvPr/>
          </p:nvSpPr>
          <p:spPr>
            <a:xfrm>
              <a:off x="8343442" y="3677319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display</a:t>
              </a:r>
              <a:endParaRPr kumimoji="1" lang="zh-TW" altLang="en-US" sz="1400" dirty="0"/>
            </a:p>
          </p:txBody>
        </p:sp>
        <p:sp>
          <p:nvSpPr>
            <p:cNvPr id="68" name="文字方塊 67">
              <a:extLst>
                <a:ext uri="{FF2B5EF4-FFF2-40B4-BE49-F238E27FC236}">
                  <a16:creationId xmlns:a16="http://schemas.microsoft.com/office/drawing/2014/main" id="{91235FD8-2B7C-4E93-BAA0-50A82AE11925}"/>
                </a:ext>
              </a:extLst>
            </p:cNvPr>
            <p:cNvSpPr txBox="1"/>
            <p:nvPr/>
          </p:nvSpPr>
          <p:spPr>
            <a:xfrm>
              <a:off x="3156781" y="468599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69" name="文字方塊 68">
              <a:extLst>
                <a:ext uri="{FF2B5EF4-FFF2-40B4-BE49-F238E27FC236}">
                  <a16:creationId xmlns:a16="http://schemas.microsoft.com/office/drawing/2014/main" id="{C4C8E3FD-F20C-4CDE-9EAD-EC59240AA344}"/>
                </a:ext>
              </a:extLst>
            </p:cNvPr>
            <p:cNvSpPr txBox="1"/>
            <p:nvPr/>
          </p:nvSpPr>
          <p:spPr>
            <a:xfrm>
              <a:off x="5313841" y="468599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(nonlinear)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0" name="文字方塊 69">
              <a:extLst>
                <a:ext uri="{FF2B5EF4-FFF2-40B4-BE49-F238E27FC236}">
                  <a16:creationId xmlns:a16="http://schemas.microsoft.com/office/drawing/2014/main" id="{729AF9CB-BC94-4163-80EF-F2867025E43A}"/>
                </a:ext>
              </a:extLst>
            </p:cNvPr>
            <p:cNvSpPr txBox="1"/>
            <p:nvPr/>
          </p:nvSpPr>
          <p:spPr>
            <a:xfrm>
              <a:off x="1271582" y="468599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525B90C3-CAD1-4B60-80BB-1D50837FDADC}"/>
                </a:ext>
              </a:extLst>
            </p:cNvPr>
            <p:cNvSpPr txBox="1"/>
            <p:nvPr/>
          </p:nvSpPr>
          <p:spPr>
            <a:xfrm>
              <a:off x="9513932" y="468599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(nonlinear)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2" name="文字方塊 71">
              <a:extLst>
                <a:ext uri="{FF2B5EF4-FFF2-40B4-BE49-F238E27FC236}">
                  <a16:creationId xmlns:a16="http://schemas.microsoft.com/office/drawing/2014/main" id="{EAC3C5B6-BA8A-4D03-A22D-362D38B09C10}"/>
                </a:ext>
              </a:extLst>
            </p:cNvPr>
            <p:cNvSpPr txBox="1"/>
            <p:nvPr/>
          </p:nvSpPr>
          <p:spPr>
            <a:xfrm>
              <a:off x="7338620" y="468599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pic>
        <p:nvPicPr>
          <p:cNvPr id="73" name="Picture 2" descr="https://pic2.zhimg.com/80/v2-4612afc3c07cf8b587f803dc54ec99b5_720w.jpg">
            <a:extLst>
              <a:ext uri="{FF2B5EF4-FFF2-40B4-BE49-F238E27FC236}">
                <a16:creationId xmlns:a16="http://schemas.microsoft.com/office/drawing/2014/main" id="{C6018C50-6008-4E61-9B6C-B7543283F6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6000" y="1117510"/>
            <a:ext cx="5797901" cy="2023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22623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A8336AF-05D3-4BF7-9DB7-ACECD17345E1}"/>
              </a:ext>
            </a:extLst>
          </p:cNvPr>
          <p:cNvSpPr txBox="1">
            <a:spLocks/>
          </p:cNvSpPr>
          <p:nvPr/>
        </p:nvSpPr>
        <p:spPr>
          <a:xfrm>
            <a:off x="567265" y="1421148"/>
            <a:ext cx="10910359" cy="49763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可以將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想成色彩空間轉換，是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sensor color space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到人眼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color space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mapping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平台在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計算上都是採用最佳化計算，自動計算出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matrix</a:t>
            </a: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342900" indent="-342900">
              <a:lnSpc>
                <a:spcPct val="100000"/>
              </a:lnSpc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本篇旨在描述自動校正完後，需要手動修改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的情況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 - formula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6745655-135B-48C0-91A2-C845221D40BA}"/>
                  </a:ext>
                </a:extLst>
              </p:cNvPr>
              <p:cNvSpPr/>
              <p:nvPr/>
            </p:nvSpPr>
            <p:spPr>
              <a:xfrm>
                <a:off x="858972" y="1822678"/>
                <a:ext cx="3785652" cy="824906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zh-TW" altLang="en-US" i="1" smtClean="0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𝐺</m:t>
                              </m:r>
                            </m:e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eqArr>
                        </m:e>
                      </m:d>
                      <m:r>
                        <a:rPr lang="zh-TW" altLang="en-US" i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plcHide m:val="on"/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zh-TW" altLang="en-US" i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21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23</m:t>
                                </m:r>
                              </m:e>
                            </m:mr>
                            <m:mr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31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32</m:t>
                                </m:r>
                              </m:e>
                              <m:e>
                                <m:r>
                                  <a:rPr lang="zh-TW" altLang="en-US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  <m:r>
                                  <a:rPr lang="en-US" altLang="zh-TW" b="0" i="0" smtClean="0">
                                    <a:latin typeface="Cambria Math" panose="02040503050406030204" pitchFamily="18" charset="0"/>
                                  </a:rPr>
                                  <m:t>33</m:t>
                                </m:r>
                              </m:e>
                            </m:mr>
                          </m:m>
                        </m:e>
                      </m:d>
                      <m:d>
                        <m:dPr>
                          <m:begChr m:val="["/>
                          <m:endChr m:val="]"/>
                          <m:ctrlPr>
                            <a:rPr lang="zh-TW" altLang="en-US" i="1">
                              <a:solidFill>
                                <a:srgbClr val="836967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zh-TW" altLang="en-US" i="1">
                                  <a:solidFill>
                                    <a:srgbClr val="836967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𝑠𝑒𝑛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𝑜𝑟𝑅</m:t>
                              </m:r>
                            </m:e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𝑠𝑒𝑛𝑠𝑜𝑟𝐺</m:t>
                              </m:r>
                            </m:e>
                            <m:e>
                              <m:r>
                                <a:rPr lang="zh-TW" altLang="en-US" i="0">
                                  <a:latin typeface="Cambria Math" panose="02040503050406030204" pitchFamily="18" charset="0"/>
                                </a:rPr>
                                <m:t>&amp;</m:t>
                              </m:r>
                              <m:r>
                                <a:rPr lang="zh-TW" altLang="en-US" i="1">
                                  <a:latin typeface="Cambria Math" panose="02040503050406030204" pitchFamily="18" charset="0"/>
                                </a:rPr>
                                <m:t>𝑠𝑒𝑛𝑠𝑜𝑟𝐵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5" name="矩形 4">
                <a:extLst>
                  <a:ext uri="{FF2B5EF4-FFF2-40B4-BE49-F238E27FC236}">
                    <a16:creationId xmlns:a16="http://schemas.microsoft.com/office/drawing/2014/main" id="{96745655-135B-48C0-91A2-C845221D40B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8972" y="1822678"/>
                <a:ext cx="3785652" cy="82490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字方塊 5">
            <a:extLst>
              <a:ext uri="{FF2B5EF4-FFF2-40B4-BE49-F238E27FC236}">
                <a16:creationId xmlns:a16="http://schemas.microsoft.com/office/drawing/2014/main" id="{9172AFC2-B50C-4B47-A375-0A87B95EBB40}"/>
              </a:ext>
            </a:extLst>
          </p:cNvPr>
          <p:cNvSpPr txBox="1"/>
          <p:nvPr/>
        </p:nvSpPr>
        <p:spPr>
          <a:xfrm>
            <a:off x="490532" y="2667613"/>
            <a:ext cx="131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>
                <a:solidFill>
                  <a:schemeClr val="bg1">
                    <a:lumMod val="65000"/>
                  </a:schemeClr>
                </a:solidFill>
              </a:rPr>
              <a:t>(linear)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4DC06F06-6634-4896-9551-FC5301100383}"/>
              </a:ext>
            </a:extLst>
          </p:cNvPr>
          <p:cNvSpPr txBox="1"/>
          <p:nvPr/>
        </p:nvSpPr>
        <p:spPr>
          <a:xfrm>
            <a:off x="3326230" y="2667613"/>
            <a:ext cx="131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>
                <a:solidFill>
                  <a:schemeClr val="bg1">
                    <a:lumMod val="65000"/>
                  </a:schemeClr>
                </a:solidFill>
              </a:rPr>
              <a:t>(linear)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5536CF41-E849-4B37-9A39-4DA86FCD4113}"/>
              </a:ext>
            </a:extLst>
          </p:cNvPr>
          <p:cNvSpPr txBox="1"/>
          <p:nvPr/>
        </p:nvSpPr>
        <p:spPr>
          <a:xfrm>
            <a:off x="1885659" y="2667613"/>
            <a:ext cx="131839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TW" sz="1400" dirty="0">
                <a:solidFill>
                  <a:schemeClr val="bg1">
                    <a:lumMod val="65000"/>
                  </a:schemeClr>
                </a:solidFill>
              </a:rPr>
              <a:t>CCM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D066725C-5CDE-4BB7-B1CF-7A535E4B67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280" y="3417293"/>
            <a:ext cx="4445503" cy="758988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6AF2A0-1AB6-48AA-8585-92AF8F503945}"/>
                  </a:ext>
                </a:extLst>
              </p:cNvPr>
              <p:cNvSpPr/>
              <p:nvPr/>
            </p:nvSpPr>
            <p:spPr>
              <a:xfrm>
                <a:off x="887335" y="3638685"/>
                <a:ext cx="2573862" cy="45506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zh-TW" altLang="en-US" i="1" smtClean="0">
                            <a:solidFill>
                              <a:srgbClr val="836967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zh-TW" altLang="en-US" i="1">
                                <a:solidFill>
                                  <a:srgbClr val="83696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a:rPr lang="zh-TW" altLang="en-US" i="1">
                                <a:latin typeface="Cambria Math" panose="02040503050406030204" pitchFamily="18" charset="0"/>
                              </a:rPr>
                              <m:t>𝑚𝑖𝑛</m:t>
                            </m:r>
                          </m:e>
                          <m:lim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𝐶𝐶𝑀</m:t>
                            </m:r>
                          </m:lim>
                        </m:limLow>
                      </m:fName>
                      <m:e>
                        <m:r>
                          <a:rPr lang="zh-TW" altLang="en-US" i="1">
                            <a:latin typeface="Cambria Math" panose="02040503050406030204" pitchFamily="18" charset="0"/>
                          </a:rPr>
                          <m:t>𝑓</m:t>
                        </m:r>
                        <m:d>
                          <m:dPr>
                            <m:ctrlPr>
                              <a:rPr lang="zh-TW" alt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𝐶𝐶𝑀</m:t>
                            </m:r>
                          </m:e>
                        </m:d>
                      </m:e>
                    </m:func>
                    <m:r>
                      <a:rPr lang="zh-TW" altLang="en-US" i="0">
                        <a:latin typeface="Cambria Math" panose="02040503050406030204" pitchFamily="18" charset="0"/>
                      </a:rPr>
                      <m:t> =</m:t>
                    </m:r>
                    <m:r>
                      <a:rPr lang="en-US" altLang="zh-TW" i="1" smtClean="0">
                        <a:latin typeface="Cambria Math" panose="02040503050406030204" pitchFamily="18" charset="0"/>
                      </a:rPr>
                      <m:t>𝐷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𝑒𝑙𝑡𝑎𝐸</m:t>
                    </m:r>
                  </m:oMath>
                </a14:m>
                <a:r>
                  <a:rPr lang="en-US" altLang="zh-TW" i="1" dirty="0"/>
                  <a:t>,</a:t>
                </a:r>
                <a:endParaRPr lang="zh-TW" altLang="en-US" i="1" dirty="0"/>
              </a:p>
            </p:txBody>
          </p:sp>
        </mc:Choice>
        <mc:Fallback xmlns="">
          <p:sp>
            <p:nvSpPr>
              <p:cNvPr id="11" name="矩形 10">
                <a:extLst>
                  <a:ext uri="{FF2B5EF4-FFF2-40B4-BE49-F238E27FC236}">
                    <a16:creationId xmlns:a16="http://schemas.microsoft.com/office/drawing/2014/main" id="{896AF2A0-1AB6-48AA-8585-92AF8F50394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335" y="3638685"/>
                <a:ext cx="2573862" cy="455061"/>
              </a:xfrm>
              <a:prstGeom prst="rect">
                <a:avLst/>
              </a:prstGeom>
              <a:blipFill>
                <a:blip r:embed="rId4"/>
                <a:stretch>
                  <a:fillRect t="-6667" r="-474" b="-2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文字方塊 11">
            <a:extLst>
              <a:ext uri="{FF2B5EF4-FFF2-40B4-BE49-F238E27FC236}">
                <a16:creationId xmlns:a16="http://schemas.microsoft.com/office/drawing/2014/main" id="{48961B82-EB45-43FE-9B1F-9C96E92CAB3E}"/>
              </a:ext>
            </a:extLst>
          </p:cNvPr>
          <p:cNvSpPr txBox="1"/>
          <p:nvPr/>
        </p:nvSpPr>
        <p:spPr>
          <a:xfrm>
            <a:off x="988600" y="4078980"/>
            <a:ext cx="10847540" cy="17034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訓練樣本：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Macbeth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24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color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checker</a:t>
            </a:r>
          </a:p>
          <a:p>
            <a:pPr marL="285750" indent="-285750">
              <a:lnSpc>
                <a:spcPct val="150000"/>
              </a:lnSpc>
              <a:buFontTx/>
              <a:buChar char="-"/>
            </a:pPr>
            <a:r>
              <a:rPr kumimoji="1" lang="zh-CN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約束：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C11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C12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+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C13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=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1,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C11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&gt;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C12,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C11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&gt;</a:t>
            </a: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C13</a:t>
            </a:r>
          </a:p>
          <a:p>
            <a:pPr>
              <a:lnSpc>
                <a:spcPct val="150000"/>
              </a:lnSpc>
            </a:pPr>
            <a:r>
              <a:rPr kumimoji="1" lang="zh-TW" altLang="en-US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</a:t>
            </a:r>
            <a:r>
              <a:rPr kumimoji="1" lang="en-US" altLang="zh-TW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C21 + C22 + C23 = 1, C22 &gt; C21, C22 &gt; C23</a:t>
            </a:r>
          </a:p>
          <a:p>
            <a:pPr>
              <a:lnSpc>
                <a:spcPct val="150000"/>
              </a:lnSpc>
            </a:pPr>
            <a:r>
              <a:rPr kumimoji="1" lang="en-US" altLang="zh-CN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                C31 + C32 + C33 = 1, C33 &gt; C31, C33 &gt; C32</a:t>
            </a:r>
          </a:p>
        </p:txBody>
      </p:sp>
      <p:pic>
        <p:nvPicPr>
          <p:cNvPr id="13" name="圖片 12">
            <a:extLst>
              <a:ext uri="{FF2B5EF4-FFF2-40B4-BE49-F238E27FC236}">
                <a16:creationId xmlns:a16="http://schemas.microsoft.com/office/drawing/2014/main" id="{3ADB2983-F4FF-4B1C-B84C-DBB0FF0FAA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864" y="4040880"/>
            <a:ext cx="2966037" cy="20768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36721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A8336AF-05D3-4BF7-9DB7-ACECD17345E1}"/>
              </a:ext>
            </a:extLst>
          </p:cNvPr>
          <p:cNvSpPr txBox="1">
            <a:spLocks/>
          </p:cNvSpPr>
          <p:nvPr/>
        </p:nvSpPr>
        <p:spPr>
          <a:xfrm>
            <a:off x="567265" y="1421148"/>
            <a:ext cx="10910359" cy="459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  <a:buAutoNum type="arabicPeriod"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pipeline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反推，並忽略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非線性轉換，在線性環境下進行色卡模擬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 simulator conception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BB59E1D-C4EB-41DF-B200-FEB4D820EAC0}"/>
              </a:ext>
            </a:extLst>
          </p:cNvPr>
          <p:cNvSpPr txBox="1"/>
          <p:nvPr/>
        </p:nvSpPr>
        <p:spPr>
          <a:xfrm>
            <a:off x="926570" y="2474810"/>
            <a:ext cx="126418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QC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pipeline</a:t>
            </a:r>
            <a:endParaRPr lang="zh-TW" altLang="en-US" dirty="0">
              <a:solidFill>
                <a:schemeClr val="bg1"/>
              </a:solidFill>
            </a:endParaRP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93D28396-1FD3-472B-ADCE-2DC6F4B15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4489" y="1839326"/>
            <a:ext cx="8911362" cy="1857232"/>
          </a:xfrm>
          <a:prstGeom prst="rect">
            <a:avLst/>
          </a:prstGeom>
        </p:spPr>
      </p:pic>
      <p:grpSp>
        <p:nvGrpSpPr>
          <p:cNvPr id="122" name="群組 121">
            <a:extLst>
              <a:ext uri="{FF2B5EF4-FFF2-40B4-BE49-F238E27FC236}">
                <a16:creationId xmlns:a16="http://schemas.microsoft.com/office/drawing/2014/main" id="{638AD979-DB8C-4DB1-8781-DBDCD50A6DBB}"/>
              </a:ext>
            </a:extLst>
          </p:cNvPr>
          <p:cNvGrpSpPr/>
          <p:nvPr/>
        </p:nvGrpSpPr>
        <p:grpSpPr>
          <a:xfrm>
            <a:off x="859895" y="3953172"/>
            <a:ext cx="10642678" cy="1922077"/>
            <a:chOff x="1200136" y="4013859"/>
            <a:chExt cx="10816787" cy="1953521"/>
          </a:xfrm>
        </p:grpSpPr>
        <p:sp>
          <p:nvSpPr>
            <p:cNvPr id="87" name="文字方塊 86">
              <a:extLst>
                <a:ext uri="{FF2B5EF4-FFF2-40B4-BE49-F238E27FC236}">
                  <a16:creationId xmlns:a16="http://schemas.microsoft.com/office/drawing/2014/main" id="{8D702161-8B32-498A-9DE1-3BE527F1F380}"/>
                </a:ext>
              </a:extLst>
            </p:cNvPr>
            <p:cNvSpPr txBox="1"/>
            <p:nvPr/>
          </p:nvSpPr>
          <p:spPr>
            <a:xfrm>
              <a:off x="4598996" y="4585312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accent2">
                      <a:lumMod val="75000"/>
                    </a:schemeClr>
                  </a:solidFill>
                </a:rPr>
                <a:t>Inverse </a:t>
              </a:r>
              <a:r>
                <a:rPr kumimoji="1" lang="en-US" altLang="zh-CN" sz="1400" dirty="0">
                  <a:solidFill>
                    <a:schemeClr val="accent2">
                      <a:lumMod val="75000"/>
                    </a:schemeClr>
                  </a:solidFill>
                </a:rPr>
                <a:t>CCM</a:t>
              </a:r>
              <a:endParaRPr kumimoji="1" lang="zh-TW" alt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sp>
          <p:nvSpPr>
            <p:cNvPr id="70" name="矩形 69">
              <a:extLst>
                <a:ext uri="{FF2B5EF4-FFF2-40B4-BE49-F238E27FC236}">
                  <a16:creationId xmlns:a16="http://schemas.microsoft.com/office/drawing/2014/main" id="{67A6FE93-C245-4D77-BF62-86D1F5AB47B0}"/>
                </a:ext>
              </a:extLst>
            </p:cNvPr>
            <p:cNvSpPr/>
            <p:nvPr/>
          </p:nvSpPr>
          <p:spPr>
            <a:xfrm>
              <a:off x="1271582" y="4355733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1" name="文字方塊 70">
              <a:extLst>
                <a:ext uri="{FF2B5EF4-FFF2-40B4-BE49-F238E27FC236}">
                  <a16:creationId xmlns:a16="http://schemas.microsoft.com/office/drawing/2014/main" id="{095AC324-55DE-4812-810C-9CEAC829C311}"/>
                </a:ext>
              </a:extLst>
            </p:cNvPr>
            <p:cNvSpPr txBox="1"/>
            <p:nvPr/>
          </p:nvSpPr>
          <p:spPr>
            <a:xfrm>
              <a:off x="1322331" y="4652319"/>
              <a:ext cx="12168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sRGB</a:t>
              </a:r>
              <a:endParaRPr kumimoji="1" lang="zh-TW" altLang="en-US" sz="2400" dirty="0"/>
            </a:p>
          </p:txBody>
        </p:sp>
        <p:sp>
          <p:nvSpPr>
            <p:cNvPr id="72" name="矩形 71">
              <a:extLst>
                <a:ext uri="{FF2B5EF4-FFF2-40B4-BE49-F238E27FC236}">
                  <a16:creationId xmlns:a16="http://schemas.microsoft.com/office/drawing/2014/main" id="{03ECCED9-7488-4C5E-8B02-13C491326F55}"/>
                </a:ext>
              </a:extLst>
            </p:cNvPr>
            <p:cNvSpPr/>
            <p:nvPr/>
          </p:nvSpPr>
          <p:spPr>
            <a:xfrm>
              <a:off x="3447143" y="4355733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3" name="文字方塊 72">
              <a:extLst>
                <a:ext uri="{FF2B5EF4-FFF2-40B4-BE49-F238E27FC236}">
                  <a16:creationId xmlns:a16="http://schemas.microsoft.com/office/drawing/2014/main" id="{09085B31-D37F-4967-BB02-625A3E0068AA}"/>
                </a:ext>
              </a:extLst>
            </p:cNvPr>
            <p:cNvSpPr txBox="1"/>
            <p:nvPr/>
          </p:nvSpPr>
          <p:spPr>
            <a:xfrm>
              <a:off x="3666494" y="4434639"/>
              <a:ext cx="919227" cy="850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linear</a:t>
              </a:r>
            </a:p>
            <a:p>
              <a:pPr algn="ctr"/>
              <a:r>
                <a:rPr kumimoji="1" lang="en-US" altLang="zh-TW" sz="2400" dirty="0"/>
                <a:t>RGB</a:t>
              </a:r>
              <a:endParaRPr kumimoji="1" lang="zh-TW" altLang="en-US" sz="2400" dirty="0"/>
            </a:p>
          </p:txBody>
        </p:sp>
        <p:sp>
          <p:nvSpPr>
            <p:cNvPr id="74" name="矩形 73">
              <a:extLst>
                <a:ext uri="{FF2B5EF4-FFF2-40B4-BE49-F238E27FC236}">
                  <a16:creationId xmlns:a16="http://schemas.microsoft.com/office/drawing/2014/main" id="{46EDF262-4F38-42A3-9A04-02C9553E9412}"/>
                </a:ext>
              </a:extLst>
            </p:cNvPr>
            <p:cNvSpPr/>
            <p:nvPr/>
          </p:nvSpPr>
          <p:spPr>
            <a:xfrm>
              <a:off x="5949553" y="4355733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5" name="文字方塊 74">
              <a:extLst>
                <a:ext uri="{FF2B5EF4-FFF2-40B4-BE49-F238E27FC236}">
                  <a16:creationId xmlns:a16="http://schemas.microsoft.com/office/drawing/2014/main" id="{6EAC71AE-8FFE-43C2-8861-5A9BE81E2738}"/>
                </a:ext>
              </a:extLst>
            </p:cNvPr>
            <p:cNvSpPr txBox="1"/>
            <p:nvPr/>
          </p:nvSpPr>
          <p:spPr>
            <a:xfrm>
              <a:off x="6149249" y="4434520"/>
              <a:ext cx="919227" cy="8445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600" dirty="0"/>
                <a:t>linear</a:t>
              </a:r>
            </a:p>
            <a:p>
              <a:pPr algn="ctr"/>
              <a:r>
                <a:rPr kumimoji="1" lang="en-US" altLang="zh-TW" sz="1600" dirty="0"/>
                <a:t>RGB</a:t>
              </a:r>
            </a:p>
            <a:p>
              <a:pPr algn="ctr"/>
              <a:r>
                <a:rPr kumimoji="1" lang="en-US" altLang="zh-TW" sz="1600" dirty="0"/>
                <a:t>(inverse)</a:t>
              </a:r>
              <a:endParaRPr kumimoji="1" lang="zh-TW" altLang="en-US" sz="1600" dirty="0"/>
            </a:p>
          </p:txBody>
        </p:sp>
        <p:sp>
          <p:nvSpPr>
            <p:cNvPr id="76" name="文字方塊 75">
              <a:extLst>
                <a:ext uri="{FF2B5EF4-FFF2-40B4-BE49-F238E27FC236}">
                  <a16:creationId xmlns:a16="http://schemas.microsoft.com/office/drawing/2014/main" id="{77B53299-4C59-483B-8C93-C36822CF1A7A}"/>
                </a:ext>
              </a:extLst>
            </p:cNvPr>
            <p:cNvSpPr txBox="1"/>
            <p:nvPr/>
          </p:nvSpPr>
          <p:spPr>
            <a:xfrm>
              <a:off x="3447144" y="5657795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0~1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77" name="文字方塊 76">
              <a:extLst>
                <a:ext uri="{FF2B5EF4-FFF2-40B4-BE49-F238E27FC236}">
                  <a16:creationId xmlns:a16="http://schemas.microsoft.com/office/drawing/2014/main" id="{0B9B8603-D8C9-4A1F-8A94-A3BD8333E574}"/>
                </a:ext>
              </a:extLst>
            </p:cNvPr>
            <p:cNvSpPr txBox="1"/>
            <p:nvPr/>
          </p:nvSpPr>
          <p:spPr>
            <a:xfrm>
              <a:off x="1200136" y="4013859"/>
              <a:ext cx="14669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TW" altLang="en-US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由設備定義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4851B423-BEB1-4110-AC90-870F8999579F}"/>
                </a:ext>
              </a:extLst>
            </p:cNvPr>
            <p:cNvSpPr txBox="1"/>
            <p:nvPr/>
          </p:nvSpPr>
          <p:spPr>
            <a:xfrm>
              <a:off x="1271582" y="5657795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0~255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86" name="直線箭頭接點 39">
              <a:extLst>
                <a:ext uri="{FF2B5EF4-FFF2-40B4-BE49-F238E27FC236}">
                  <a16:creationId xmlns:a16="http://schemas.microsoft.com/office/drawing/2014/main" id="{817AAD3B-0098-46AA-90D8-27AB2CA8EF7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814597" y="4850129"/>
              <a:ext cx="1101917" cy="8912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文字方塊 92">
              <a:extLst>
                <a:ext uri="{FF2B5EF4-FFF2-40B4-BE49-F238E27FC236}">
                  <a16:creationId xmlns:a16="http://schemas.microsoft.com/office/drawing/2014/main" id="{22CF5D2D-A9B3-4B27-8C08-342B662BA910}"/>
                </a:ext>
              </a:extLst>
            </p:cNvPr>
            <p:cNvSpPr txBox="1"/>
            <p:nvPr/>
          </p:nvSpPr>
          <p:spPr>
            <a:xfrm>
              <a:off x="5947299" y="5407110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145C2DF2-3C7B-4BAF-90A2-0482F603C68D}"/>
                </a:ext>
              </a:extLst>
            </p:cNvPr>
            <p:cNvSpPr txBox="1"/>
            <p:nvPr/>
          </p:nvSpPr>
          <p:spPr>
            <a:xfrm>
              <a:off x="1271582" y="5407110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(nonlinear)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97" name="文字方塊 96">
              <a:extLst>
                <a:ext uri="{FF2B5EF4-FFF2-40B4-BE49-F238E27FC236}">
                  <a16:creationId xmlns:a16="http://schemas.microsoft.com/office/drawing/2014/main" id="{F4A6F0DA-2CEE-4386-8AD8-B620D1371E33}"/>
                </a:ext>
              </a:extLst>
            </p:cNvPr>
            <p:cNvSpPr txBox="1"/>
            <p:nvPr/>
          </p:nvSpPr>
          <p:spPr>
            <a:xfrm>
              <a:off x="3447144" y="5407110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cxnSp>
          <p:nvCxnSpPr>
            <p:cNvPr id="98" name="直線箭頭接點 68">
              <a:extLst>
                <a:ext uri="{FF2B5EF4-FFF2-40B4-BE49-F238E27FC236}">
                  <a16:creationId xmlns:a16="http://schemas.microsoft.com/office/drawing/2014/main" id="{F269B85C-CFCC-4897-8F23-F5BB6D509A86}"/>
                </a:ext>
              </a:extLst>
            </p:cNvPr>
            <p:cNvCxnSpPr>
              <a:cxnSpLocks/>
            </p:cNvCxnSpPr>
            <p:nvPr/>
          </p:nvCxnSpPr>
          <p:spPr>
            <a:xfrm>
              <a:off x="2659010" y="4849104"/>
              <a:ext cx="725712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字方塊 98">
              <a:extLst>
                <a:ext uri="{FF2B5EF4-FFF2-40B4-BE49-F238E27FC236}">
                  <a16:creationId xmlns:a16="http://schemas.microsoft.com/office/drawing/2014/main" id="{F4987346-F0D4-4ECC-A4B7-A284F23D3E59}"/>
                </a:ext>
              </a:extLst>
            </p:cNvPr>
            <p:cNvSpPr txBox="1"/>
            <p:nvPr/>
          </p:nvSpPr>
          <p:spPr>
            <a:xfrm>
              <a:off x="2284753" y="4575375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gamma</a:t>
              </a:r>
              <a:endParaRPr kumimoji="1" lang="zh-TW" altLang="en-US" sz="1400" dirty="0"/>
            </a:p>
          </p:txBody>
        </p:sp>
        <p:sp>
          <p:nvSpPr>
            <p:cNvPr id="100" name="文字方塊 99">
              <a:extLst>
                <a:ext uri="{FF2B5EF4-FFF2-40B4-BE49-F238E27FC236}">
                  <a16:creationId xmlns:a16="http://schemas.microsoft.com/office/drawing/2014/main" id="{48708C4D-8FE0-4A81-BB6E-F0E6B4DA8F8C}"/>
                </a:ext>
              </a:extLst>
            </p:cNvPr>
            <p:cNvSpPr txBox="1"/>
            <p:nvPr/>
          </p:nvSpPr>
          <p:spPr>
            <a:xfrm>
              <a:off x="2284753" y="4398436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display</a:t>
              </a:r>
              <a:endParaRPr kumimoji="1" lang="zh-TW" altLang="en-US" sz="1400" dirty="0"/>
            </a:p>
          </p:txBody>
        </p:sp>
        <p:sp>
          <p:nvSpPr>
            <p:cNvPr id="103" name="文字方塊 102">
              <a:extLst>
                <a:ext uri="{FF2B5EF4-FFF2-40B4-BE49-F238E27FC236}">
                  <a16:creationId xmlns:a16="http://schemas.microsoft.com/office/drawing/2014/main" id="{7A4BDE8B-7D74-4179-958A-9188B9FF3790}"/>
                </a:ext>
              </a:extLst>
            </p:cNvPr>
            <p:cNvSpPr txBox="1"/>
            <p:nvPr/>
          </p:nvSpPr>
          <p:spPr>
            <a:xfrm>
              <a:off x="5947299" y="5657795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0~1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04" name="文字方塊 103">
              <a:extLst>
                <a:ext uri="{FF2B5EF4-FFF2-40B4-BE49-F238E27FC236}">
                  <a16:creationId xmlns:a16="http://schemas.microsoft.com/office/drawing/2014/main" id="{83C5B50D-7D95-4FF9-B533-693BDEBA25CF}"/>
                </a:ext>
              </a:extLst>
            </p:cNvPr>
            <p:cNvSpPr txBox="1"/>
            <p:nvPr/>
          </p:nvSpPr>
          <p:spPr>
            <a:xfrm>
              <a:off x="7104607" y="4600022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accent2">
                      <a:lumMod val="75000"/>
                    </a:schemeClr>
                  </a:solidFill>
                </a:rPr>
                <a:t>Modify </a:t>
              </a:r>
              <a:r>
                <a:rPr kumimoji="1" lang="en-US" altLang="zh-CN" sz="1400" dirty="0">
                  <a:solidFill>
                    <a:schemeClr val="accent2">
                      <a:lumMod val="75000"/>
                    </a:schemeClr>
                  </a:solidFill>
                </a:rPr>
                <a:t>CCM</a:t>
              </a:r>
              <a:endParaRPr kumimoji="1" lang="zh-TW" altLang="en-US" sz="1400" dirty="0">
                <a:solidFill>
                  <a:schemeClr val="accent2">
                    <a:lumMod val="75000"/>
                  </a:schemeClr>
                </a:solidFill>
              </a:endParaRPr>
            </a:p>
          </p:txBody>
        </p:sp>
        <p:cxnSp>
          <p:nvCxnSpPr>
            <p:cNvPr id="105" name="直線箭頭接點 39">
              <a:extLst>
                <a:ext uri="{FF2B5EF4-FFF2-40B4-BE49-F238E27FC236}">
                  <a16:creationId xmlns:a16="http://schemas.microsoft.com/office/drawing/2014/main" id="{C2FD274F-F487-421C-88E3-5DFED70F535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320208" y="4864839"/>
              <a:ext cx="1101917" cy="8912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C7AE4C80-3B15-492E-904C-A461391D1BEC}"/>
                </a:ext>
              </a:extLst>
            </p:cNvPr>
            <p:cNvSpPr/>
            <p:nvPr/>
          </p:nvSpPr>
          <p:spPr>
            <a:xfrm>
              <a:off x="8464860" y="4354706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11" name="文字方塊 110">
              <a:extLst>
                <a:ext uri="{FF2B5EF4-FFF2-40B4-BE49-F238E27FC236}">
                  <a16:creationId xmlns:a16="http://schemas.microsoft.com/office/drawing/2014/main" id="{7CC6137F-057C-4CC1-9201-5F31F7F01D62}"/>
                </a:ext>
              </a:extLst>
            </p:cNvPr>
            <p:cNvSpPr txBox="1"/>
            <p:nvPr/>
          </p:nvSpPr>
          <p:spPr>
            <a:xfrm>
              <a:off x="8684211" y="4433612"/>
              <a:ext cx="919227" cy="85002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linear</a:t>
              </a:r>
            </a:p>
            <a:p>
              <a:pPr algn="ctr"/>
              <a:r>
                <a:rPr kumimoji="1" lang="en-US" altLang="zh-TW" sz="2400" dirty="0"/>
                <a:t>RGB</a:t>
              </a:r>
              <a:endParaRPr kumimoji="1" lang="zh-TW" altLang="en-US" sz="2400" dirty="0"/>
            </a:p>
          </p:txBody>
        </p:sp>
        <p:sp>
          <p:nvSpPr>
            <p:cNvPr id="112" name="文字方塊 111">
              <a:extLst>
                <a:ext uri="{FF2B5EF4-FFF2-40B4-BE49-F238E27FC236}">
                  <a16:creationId xmlns:a16="http://schemas.microsoft.com/office/drawing/2014/main" id="{A21D5B38-F66C-4CBC-80C6-521618A4849E}"/>
                </a:ext>
              </a:extLst>
            </p:cNvPr>
            <p:cNvSpPr txBox="1"/>
            <p:nvPr/>
          </p:nvSpPr>
          <p:spPr>
            <a:xfrm>
              <a:off x="8483911" y="5656768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0~1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3" name="文字方塊 112">
              <a:extLst>
                <a:ext uri="{FF2B5EF4-FFF2-40B4-BE49-F238E27FC236}">
                  <a16:creationId xmlns:a16="http://schemas.microsoft.com/office/drawing/2014/main" id="{E6096546-AF2D-48A2-9791-82E11F8745DD}"/>
                </a:ext>
              </a:extLst>
            </p:cNvPr>
            <p:cNvSpPr txBox="1"/>
            <p:nvPr/>
          </p:nvSpPr>
          <p:spPr>
            <a:xfrm>
              <a:off x="8464861" y="540608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05B553EB-FCBE-43F8-8CA9-813070B94684}"/>
                </a:ext>
              </a:extLst>
            </p:cNvPr>
            <p:cNvSpPr/>
            <p:nvPr/>
          </p:nvSpPr>
          <p:spPr>
            <a:xfrm>
              <a:off x="10621371" y="4357541"/>
              <a:ext cx="1318395" cy="988796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 dirty="0"/>
            </a:p>
          </p:txBody>
        </p:sp>
        <p:sp>
          <p:nvSpPr>
            <p:cNvPr id="115" name="文字方塊 114">
              <a:extLst>
                <a:ext uri="{FF2B5EF4-FFF2-40B4-BE49-F238E27FC236}">
                  <a16:creationId xmlns:a16="http://schemas.microsoft.com/office/drawing/2014/main" id="{32F0983F-E87A-40E3-AC0D-813175D7C5C2}"/>
                </a:ext>
              </a:extLst>
            </p:cNvPr>
            <p:cNvSpPr txBox="1"/>
            <p:nvPr/>
          </p:nvSpPr>
          <p:spPr>
            <a:xfrm>
              <a:off x="10672120" y="4634977"/>
              <a:ext cx="1216897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2400" dirty="0"/>
                <a:t>sRGB</a:t>
              </a:r>
            </a:p>
          </p:txBody>
        </p:sp>
        <p:sp>
          <p:nvSpPr>
            <p:cNvPr id="116" name="文字方塊 115">
              <a:extLst>
                <a:ext uri="{FF2B5EF4-FFF2-40B4-BE49-F238E27FC236}">
                  <a16:creationId xmlns:a16="http://schemas.microsoft.com/office/drawing/2014/main" id="{F53E9AD8-8C9C-410C-BCFA-977B006FB862}"/>
                </a:ext>
              </a:extLst>
            </p:cNvPr>
            <p:cNvSpPr txBox="1"/>
            <p:nvPr/>
          </p:nvSpPr>
          <p:spPr>
            <a:xfrm>
              <a:off x="10621371" y="5659603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0~255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  <p:sp>
          <p:nvSpPr>
            <p:cNvPr id="117" name="文字方塊 116">
              <a:extLst>
                <a:ext uri="{FF2B5EF4-FFF2-40B4-BE49-F238E27FC236}">
                  <a16:creationId xmlns:a16="http://schemas.microsoft.com/office/drawing/2014/main" id="{910826AC-4687-4255-A899-77DC0E0A8DC8}"/>
                </a:ext>
              </a:extLst>
            </p:cNvPr>
            <p:cNvSpPr txBox="1"/>
            <p:nvPr/>
          </p:nvSpPr>
          <p:spPr>
            <a:xfrm>
              <a:off x="10549925" y="4015667"/>
              <a:ext cx="146699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zh-CN" altLang="en-US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由</a:t>
              </a:r>
              <a:r>
                <a:rPr kumimoji="1" lang="zh-TW" altLang="en-US" sz="1400" dirty="0">
                  <a:solidFill>
                    <a:schemeClr val="bg1">
                      <a:lumMod val="65000"/>
                    </a:schemeClr>
                  </a:solidFill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設備定義</a:t>
              </a:r>
            </a:p>
          </p:txBody>
        </p:sp>
        <p:cxnSp>
          <p:nvCxnSpPr>
            <p:cNvPr id="118" name="直線箭頭接點 68">
              <a:extLst>
                <a:ext uri="{FF2B5EF4-FFF2-40B4-BE49-F238E27FC236}">
                  <a16:creationId xmlns:a16="http://schemas.microsoft.com/office/drawing/2014/main" id="{BD157AB3-4B76-4BC7-AB30-04BEDADF4D5D}"/>
                </a:ext>
              </a:extLst>
            </p:cNvPr>
            <p:cNvCxnSpPr>
              <a:cxnSpLocks/>
            </p:cNvCxnSpPr>
            <p:nvPr/>
          </p:nvCxnSpPr>
          <p:spPr>
            <a:xfrm>
              <a:off x="9834663" y="4850912"/>
              <a:ext cx="725712" cy="0"/>
            </a:xfrm>
            <a:prstGeom prst="straightConnector1">
              <a:avLst/>
            </a:prstGeom>
            <a:ln w="38100">
              <a:solidFill>
                <a:schemeClr val="bg1">
                  <a:lumMod val="8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9" name="文字方塊 118">
              <a:extLst>
                <a:ext uri="{FF2B5EF4-FFF2-40B4-BE49-F238E27FC236}">
                  <a16:creationId xmlns:a16="http://schemas.microsoft.com/office/drawing/2014/main" id="{1548AA1D-9119-4BE7-A79C-963785E63830}"/>
                </a:ext>
              </a:extLst>
            </p:cNvPr>
            <p:cNvSpPr txBox="1"/>
            <p:nvPr/>
          </p:nvSpPr>
          <p:spPr>
            <a:xfrm>
              <a:off x="9460406" y="4577183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gamma</a:t>
              </a:r>
              <a:endParaRPr kumimoji="1" lang="zh-TW" altLang="en-US" sz="1400" dirty="0"/>
            </a:p>
          </p:txBody>
        </p:sp>
        <p:sp>
          <p:nvSpPr>
            <p:cNvPr id="120" name="文字方塊 119">
              <a:extLst>
                <a:ext uri="{FF2B5EF4-FFF2-40B4-BE49-F238E27FC236}">
                  <a16:creationId xmlns:a16="http://schemas.microsoft.com/office/drawing/2014/main" id="{F21C1807-EFEB-43C3-A468-76978E860161}"/>
                </a:ext>
              </a:extLst>
            </p:cNvPr>
            <p:cNvSpPr txBox="1"/>
            <p:nvPr/>
          </p:nvSpPr>
          <p:spPr>
            <a:xfrm>
              <a:off x="9460406" y="4400244"/>
              <a:ext cx="140798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CN" sz="1400" dirty="0"/>
                <a:t>display</a:t>
              </a:r>
              <a:endParaRPr kumimoji="1" lang="zh-TW" altLang="en-US" sz="1400" dirty="0"/>
            </a:p>
          </p:txBody>
        </p:sp>
        <p:sp>
          <p:nvSpPr>
            <p:cNvPr id="121" name="文字方塊 120">
              <a:extLst>
                <a:ext uri="{FF2B5EF4-FFF2-40B4-BE49-F238E27FC236}">
                  <a16:creationId xmlns:a16="http://schemas.microsoft.com/office/drawing/2014/main" id="{4441D713-D306-4E5C-A8B4-2A6F42A4D66D}"/>
                </a:ext>
              </a:extLst>
            </p:cNvPr>
            <p:cNvSpPr txBox="1"/>
            <p:nvPr/>
          </p:nvSpPr>
          <p:spPr>
            <a:xfrm>
              <a:off x="10621371" y="5408918"/>
              <a:ext cx="131839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zh-TW" sz="1400" dirty="0">
                  <a:solidFill>
                    <a:schemeClr val="bg1">
                      <a:lumMod val="65000"/>
                    </a:schemeClr>
                  </a:solidFill>
                </a:rPr>
                <a:t>(nonlinear)</a:t>
              </a:r>
              <a:endParaRPr kumimoji="1" lang="zh-TW" altLang="en-US" sz="14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B69D8A8B-F464-47ED-95A1-EC681FEBC3DC}"/>
              </a:ext>
            </a:extLst>
          </p:cNvPr>
          <p:cNvSpPr txBox="1"/>
          <p:nvPr/>
        </p:nvSpPr>
        <p:spPr>
          <a:xfrm>
            <a:off x="936095" y="3523215"/>
            <a:ext cx="1892830" cy="369332"/>
          </a:xfrm>
          <a:prstGeom prst="rect">
            <a:avLst/>
          </a:prstGeom>
          <a:solidFill>
            <a:schemeClr val="accent1"/>
          </a:solidFill>
        </p:spPr>
        <p:txBody>
          <a:bodyPr wrap="square" rtlCol="0">
            <a:spAutoFit/>
          </a:bodyPr>
          <a:lstStyle/>
          <a:p>
            <a:r>
              <a:rPr lang="en-US" altLang="zh-TW" dirty="0">
                <a:solidFill>
                  <a:schemeClr val="bg1"/>
                </a:solidFill>
              </a:rPr>
              <a:t>Simulator</a:t>
            </a:r>
            <a:r>
              <a:rPr lang="zh-TW" altLang="en-US" dirty="0">
                <a:solidFill>
                  <a:schemeClr val="bg1"/>
                </a:solidFill>
              </a:rPr>
              <a:t> </a:t>
            </a:r>
            <a:r>
              <a:rPr lang="en-US" altLang="zh-TW" dirty="0">
                <a:solidFill>
                  <a:schemeClr val="bg1"/>
                </a:solidFill>
              </a:rPr>
              <a:t>pipeline</a:t>
            </a:r>
            <a:endParaRPr lang="zh-TW" altLang="en-US" dirty="0">
              <a:solidFill>
                <a:schemeClr val="bg1"/>
              </a:solidFill>
            </a:endParaRPr>
          </a:p>
        </p:txBody>
      </p:sp>
      <p:sp>
        <p:nvSpPr>
          <p:cNvPr id="124" name="內容版面配置區 2">
            <a:extLst>
              <a:ext uri="{FF2B5EF4-FFF2-40B4-BE49-F238E27FC236}">
                <a16:creationId xmlns:a16="http://schemas.microsoft.com/office/drawing/2014/main" id="{91CE1E3A-0068-42B4-9F90-8F3894460098}"/>
              </a:ext>
            </a:extLst>
          </p:cNvPr>
          <p:cNvSpPr txBox="1">
            <a:spLocks/>
          </p:cNvSpPr>
          <p:nvPr/>
        </p:nvSpPr>
        <p:spPr>
          <a:xfrm>
            <a:off x="567265" y="5986555"/>
            <a:ext cx="10910359" cy="459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2.  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經實驗此模擬方法與實拍間可能因光源、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不同而有誤差，但可用於模擬及趨勢觀察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" name="箭號: 向下 2">
            <a:extLst>
              <a:ext uri="{FF2B5EF4-FFF2-40B4-BE49-F238E27FC236}">
                <a16:creationId xmlns:a16="http://schemas.microsoft.com/office/drawing/2014/main" id="{57CC6676-FEA0-E170-B1AF-5E8B9D39CABA}"/>
              </a:ext>
            </a:extLst>
          </p:cNvPr>
          <p:cNvSpPr/>
          <p:nvPr/>
        </p:nvSpPr>
        <p:spPr>
          <a:xfrm>
            <a:off x="4227696" y="4117077"/>
            <a:ext cx="281008" cy="441154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45A4A20-CF2C-81DE-4F55-BB6B9A79A616}"/>
              </a:ext>
            </a:extLst>
          </p:cNvPr>
          <p:cNvSpPr/>
          <p:nvPr/>
        </p:nvSpPr>
        <p:spPr>
          <a:xfrm>
            <a:off x="3510059" y="3842495"/>
            <a:ext cx="1716282" cy="2790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Inverse gamma</a:t>
            </a:r>
            <a:endParaRPr lang="zh-TW" altLang="en-US" dirty="0">
              <a:solidFill>
                <a:schemeClr val="tx1"/>
              </a:solidFill>
            </a:endParaRPr>
          </a:p>
        </p:txBody>
      </p:sp>
      <p:sp>
        <p:nvSpPr>
          <p:cNvPr id="6" name="箭號: 向下 5">
            <a:extLst>
              <a:ext uri="{FF2B5EF4-FFF2-40B4-BE49-F238E27FC236}">
                <a16:creationId xmlns:a16="http://schemas.microsoft.com/office/drawing/2014/main" id="{6D3138F0-201E-939A-7444-BDAB33872BF1}"/>
              </a:ext>
            </a:extLst>
          </p:cNvPr>
          <p:cNvSpPr/>
          <p:nvPr/>
        </p:nvSpPr>
        <p:spPr>
          <a:xfrm>
            <a:off x="7868394" y="4117077"/>
            <a:ext cx="281008" cy="441154"/>
          </a:xfrm>
          <a:prstGeom prst="down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chemeClr val="tx1"/>
              </a:solidFill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EEF7F7C-10B4-7EDE-96D3-2DA753920BDA}"/>
              </a:ext>
            </a:extLst>
          </p:cNvPr>
          <p:cNvSpPr/>
          <p:nvPr/>
        </p:nvSpPr>
        <p:spPr>
          <a:xfrm>
            <a:off x="7460536" y="3842495"/>
            <a:ext cx="1096724" cy="279066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>
                <a:solidFill>
                  <a:schemeClr val="tx1"/>
                </a:solidFill>
              </a:rPr>
              <a:t>gamma</a:t>
            </a: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5307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0757E87F-C984-434F-9F49-9630371445FA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Simulator interface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D24979BD-FB32-47C6-BD40-2B948D06B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7505"/>
            <a:ext cx="12192000" cy="4341190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C01B43C1-00D5-47D9-A3BD-734E609040AF}"/>
              </a:ext>
            </a:extLst>
          </p:cNvPr>
          <p:cNvSpPr/>
          <p:nvPr/>
        </p:nvSpPr>
        <p:spPr>
          <a:xfrm>
            <a:off x="66674" y="2953990"/>
            <a:ext cx="3390901" cy="3084859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FCEC9804-AB7E-4CD8-B46E-88D5EC6C0F8A}"/>
              </a:ext>
            </a:extLst>
          </p:cNvPr>
          <p:cNvGrpSpPr/>
          <p:nvPr/>
        </p:nvGrpSpPr>
        <p:grpSpPr>
          <a:xfrm>
            <a:off x="44795" y="2570234"/>
            <a:ext cx="2609240" cy="369332"/>
            <a:chOff x="44795" y="2570234"/>
            <a:chExt cx="2609240" cy="369332"/>
          </a:xfrm>
        </p:grpSpPr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DCE73C49-C575-4A9B-8496-F4B0DD043723}"/>
                </a:ext>
              </a:extLst>
            </p:cNvPr>
            <p:cNvSpPr/>
            <p:nvPr/>
          </p:nvSpPr>
          <p:spPr>
            <a:xfrm>
              <a:off x="66675" y="2632855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08FDB601-35A6-4664-A112-B9A86E6AC1DB}"/>
                </a:ext>
              </a:extLst>
            </p:cNvPr>
            <p:cNvSpPr txBox="1"/>
            <p:nvPr/>
          </p:nvSpPr>
          <p:spPr>
            <a:xfrm>
              <a:off x="44795" y="2570234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1</a:t>
              </a:r>
              <a:endParaRPr kumimoji="1" lang="zh-TW" altLang="en-US" dirty="0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3BDA77F3-5195-47D2-A36A-49FC06AC8B32}"/>
                </a:ext>
              </a:extLst>
            </p:cNvPr>
            <p:cNvSpPr txBox="1"/>
            <p:nvPr/>
          </p:nvSpPr>
          <p:spPr>
            <a:xfrm>
              <a:off x="257968" y="2590119"/>
              <a:ext cx="23960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目標及原始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sRGB</a:t>
              </a:r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數值</a:t>
              </a: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62395233-785C-4151-9EB2-3E2B54D55206}"/>
              </a:ext>
            </a:extLst>
          </p:cNvPr>
          <p:cNvSpPr/>
          <p:nvPr/>
        </p:nvSpPr>
        <p:spPr>
          <a:xfrm>
            <a:off x="1428750" y="3086100"/>
            <a:ext cx="657225" cy="28956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2A222831-E829-40AE-B111-4C000AB69ABD}"/>
              </a:ext>
            </a:extLst>
          </p:cNvPr>
          <p:cNvGrpSpPr/>
          <p:nvPr/>
        </p:nvGrpSpPr>
        <p:grpSpPr>
          <a:xfrm>
            <a:off x="1393776" y="6084432"/>
            <a:ext cx="3307859" cy="541844"/>
            <a:chOff x="1393776" y="6045516"/>
            <a:chExt cx="3307859" cy="54184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F6C4243B-0635-45D2-AC24-9DD987246829}"/>
                </a:ext>
              </a:extLst>
            </p:cNvPr>
            <p:cNvSpPr/>
            <p:nvPr/>
          </p:nvSpPr>
          <p:spPr>
            <a:xfrm>
              <a:off x="1406947" y="6202552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9" name="文字方塊 18">
              <a:extLst>
                <a:ext uri="{FF2B5EF4-FFF2-40B4-BE49-F238E27FC236}">
                  <a16:creationId xmlns:a16="http://schemas.microsoft.com/office/drawing/2014/main" id="{472C5174-AB33-43B2-A6CD-5BC804FF6E8C}"/>
                </a:ext>
              </a:extLst>
            </p:cNvPr>
            <p:cNvSpPr txBox="1"/>
            <p:nvPr/>
          </p:nvSpPr>
          <p:spPr>
            <a:xfrm>
              <a:off x="1607765" y="6045516"/>
              <a:ext cx="23960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即時觀察色塊</a:t>
              </a: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A6E477F4-494F-4F9A-8579-2BD50F17CB69}"/>
                </a:ext>
              </a:extLst>
            </p:cNvPr>
            <p:cNvSpPr txBox="1"/>
            <p:nvPr/>
          </p:nvSpPr>
          <p:spPr>
            <a:xfrm>
              <a:off x="1393776" y="6132038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2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E035A618-82F6-4010-BDCD-CE7F10F0E2BF}"/>
                </a:ext>
              </a:extLst>
            </p:cNvPr>
            <p:cNvSpPr txBox="1"/>
            <p:nvPr/>
          </p:nvSpPr>
          <p:spPr>
            <a:xfrm>
              <a:off x="1607764" y="6279583"/>
              <a:ext cx="3093871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TW" altLang="en-US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依序為</a:t>
              </a:r>
              <a:r>
                <a:rPr lang="en-US" altLang="zh-TW" sz="14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target, original, final, target</a:t>
              </a:r>
              <a:endPara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</p:grpSp>
      <p:sp>
        <p:nvSpPr>
          <p:cNvPr id="24" name="矩形 23">
            <a:extLst>
              <a:ext uri="{FF2B5EF4-FFF2-40B4-BE49-F238E27FC236}">
                <a16:creationId xmlns:a16="http://schemas.microsoft.com/office/drawing/2014/main" id="{CEA96456-B936-459F-9991-3AB4810B4A9B}"/>
              </a:ext>
            </a:extLst>
          </p:cNvPr>
          <p:cNvSpPr/>
          <p:nvPr/>
        </p:nvSpPr>
        <p:spPr>
          <a:xfrm>
            <a:off x="3524249" y="2953990"/>
            <a:ext cx="1457326" cy="308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0" name="群組 29">
            <a:extLst>
              <a:ext uri="{FF2B5EF4-FFF2-40B4-BE49-F238E27FC236}">
                <a16:creationId xmlns:a16="http://schemas.microsoft.com/office/drawing/2014/main" id="{9CFB8DF7-956E-475A-A038-ECA859C47001}"/>
              </a:ext>
            </a:extLst>
          </p:cNvPr>
          <p:cNvGrpSpPr/>
          <p:nvPr/>
        </p:nvGrpSpPr>
        <p:grpSpPr>
          <a:xfrm>
            <a:off x="3488979" y="6030957"/>
            <a:ext cx="1755038" cy="369332"/>
            <a:chOff x="3488979" y="6039666"/>
            <a:chExt cx="1755038" cy="369332"/>
          </a:xfrm>
        </p:grpSpPr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80924D56-89E2-4306-9016-59D53A28BAF1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8" name="文字方塊 27">
              <a:extLst>
                <a:ext uri="{FF2B5EF4-FFF2-40B4-BE49-F238E27FC236}">
                  <a16:creationId xmlns:a16="http://schemas.microsoft.com/office/drawing/2014/main" id="{702BF026-D015-4D6B-B674-ABFD089A46AD}"/>
                </a:ext>
              </a:extLst>
            </p:cNvPr>
            <p:cNvSpPr txBox="1"/>
            <p:nvPr/>
          </p:nvSpPr>
          <p:spPr>
            <a:xfrm>
              <a:off x="3702152" y="6058735"/>
              <a:ext cx="154186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模擬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sRGB</a:t>
              </a:r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數值</a:t>
              </a:r>
            </a:p>
          </p:txBody>
        </p:sp>
        <p:sp>
          <p:nvSpPr>
            <p:cNvPr id="29" name="文字方塊 28">
              <a:extLst>
                <a:ext uri="{FF2B5EF4-FFF2-40B4-BE49-F238E27FC236}">
                  <a16:creationId xmlns:a16="http://schemas.microsoft.com/office/drawing/2014/main" id="{49F42602-4A51-449A-8483-9059D289217C}"/>
                </a:ext>
              </a:extLst>
            </p:cNvPr>
            <p:cNvSpPr txBox="1"/>
            <p:nvPr/>
          </p:nvSpPr>
          <p:spPr>
            <a:xfrm>
              <a:off x="3488979" y="6039666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3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1" name="矩形 30">
            <a:extLst>
              <a:ext uri="{FF2B5EF4-FFF2-40B4-BE49-F238E27FC236}">
                <a16:creationId xmlns:a16="http://schemas.microsoft.com/office/drawing/2014/main" id="{2F2B19BA-1A84-4525-8D37-026F38C481ED}"/>
              </a:ext>
            </a:extLst>
          </p:cNvPr>
          <p:cNvSpPr/>
          <p:nvPr/>
        </p:nvSpPr>
        <p:spPr>
          <a:xfrm>
            <a:off x="3524249" y="1687030"/>
            <a:ext cx="1457326" cy="1246669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37" name="群組 36">
            <a:extLst>
              <a:ext uri="{FF2B5EF4-FFF2-40B4-BE49-F238E27FC236}">
                <a16:creationId xmlns:a16="http://schemas.microsoft.com/office/drawing/2014/main" id="{144DAF5A-21A2-4E29-9FAC-B6B4EAD4B2B4}"/>
              </a:ext>
            </a:extLst>
          </p:cNvPr>
          <p:cNvGrpSpPr/>
          <p:nvPr/>
        </p:nvGrpSpPr>
        <p:grpSpPr>
          <a:xfrm>
            <a:off x="3501074" y="1320044"/>
            <a:ext cx="1803849" cy="369332"/>
            <a:chOff x="3501074" y="1302626"/>
            <a:chExt cx="1803849" cy="369332"/>
          </a:xfrm>
        </p:grpSpPr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44FCD776-8F4F-4EF4-B3FC-E20F8A0703A3}"/>
                </a:ext>
              </a:extLst>
            </p:cNvPr>
            <p:cNvSpPr/>
            <p:nvPr/>
          </p:nvSpPr>
          <p:spPr>
            <a:xfrm>
              <a:off x="3522954" y="1365247"/>
              <a:ext cx="253072" cy="25307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B34F8307-2571-4D85-A54E-DFBDC322601E}"/>
                </a:ext>
              </a:extLst>
            </p:cNvPr>
            <p:cNvSpPr txBox="1"/>
            <p:nvPr/>
          </p:nvSpPr>
          <p:spPr>
            <a:xfrm>
              <a:off x="3714247" y="1322511"/>
              <a:ext cx="15906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CCM</a:t>
              </a:r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調整</a:t>
              </a:r>
            </a:p>
          </p:txBody>
        </p:sp>
        <p:sp>
          <p:nvSpPr>
            <p:cNvPr id="36" name="文字方塊 35">
              <a:extLst>
                <a:ext uri="{FF2B5EF4-FFF2-40B4-BE49-F238E27FC236}">
                  <a16:creationId xmlns:a16="http://schemas.microsoft.com/office/drawing/2014/main" id="{1D221016-0D91-4787-9863-BF0AF1E63D80}"/>
                </a:ext>
              </a:extLst>
            </p:cNvPr>
            <p:cNvSpPr txBox="1"/>
            <p:nvPr/>
          </p:nvSpPr>
          <p:spPr>
            <a:xfrm>
              <a:off x="3501074" y="1302626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4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38" name="矩形 37">
            <a:extLst>
              <a:ext uri="{FF2B5EF4-FFF2-40B4-BE49-F238E27FC236}">
                <a16:creationId xmlns:a16="http://schemas.microsoft.com/office/drawing/2014/main" id="{162BDD5D-E9DA-4A44-993E-6EB54C54875E}"/>
              </a:ext>
            </a:extLst>
          </p:cNvPr>
          <p:cNvSpPr/>
          <p:nvPr/>
        </p:nvSpPr>
        <p:spPr>
          <a:xfrm>
            <a:off x="5039540" y="2953990"/>
            <a:ext cx="1918610" cy="308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43" name="群組 42">
            <a:extLst>
              <a:ext uri="{FF2B5EF4-FFF2-40B4-BE49-F238E27FC236}">
                <a16:creationId xmlns:a16="http://schemas.microsoft.com/office/drawing/2014/main" id="{BB9B172F-B1B4-4A81-8944-E4AE023A9B07}"/>
              </a:ext>
            </a:extLst>
          </p:cNvPr>
          <p:cNvGrpSpPr/>
          <p:nvPr/>
        </p:nvGrpSpPr>
        <p:grpSpPr>
          <a:xfrm>
            <a:off x="5131835" y="6025118"/>
            <a:ext cx="3750581" cy="369332"/>
            <a:chOff x="3488979" y="6039666"/>
            <a:chExt cx="3750581" cy="369332"/>
          </a:xfrm>
        </p:grpSpPr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BA65DB30-A5E1-4DBF-883E-2662CC6A708F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45" name="文字方塊 44">
              <a:extLst>
                <a:ext uri="{FF2B5EF4-FFF2-40B4-BE49-F238E27FC236}">
                  <a16:creationId xmlns:a16="http://schemas.microsoft.com/office/drawing/2014/main" id="{EE7E756D-6227-4BC2-9FBC-A577360D6108}"/>
                </a:ext>
              </a:extLst>
            </p:cNvPr>
            <p:cNvSpPr txBox="1"/>
            <p:nvPr/>
          </p:nvSpPr>
          <p:spPr>
            <a:xfrm>
              <a:off x="3702152" y="6058735"/>
              <a:ext cx="3537408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目標及原始色差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 / </a:t>
              </a:r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目標及模擬色差</a:t>
              </a:r>
            </a:p>
          </p:txBody>
        </p:sp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E7D28259-9DCE-441F-8DAC-0835CBBBDF0F}"/>
                </a:ext>
              </a:extLst>
            </p:cNvPr>
            <p:cNvSpPr txBox="1"/>
            <p:nvPr/>
          </p:nvSpPr>
          <p:spPr>
            <a:xfrm>
              <a:off x="3488979" y="6039666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5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7" name="矩形 46">
            <a:extLst>
              <a:ext uri="{FF2B5EF4-FFF2-40B4-BE49-F238E27FC236}">
                <a16:creationId xmlns:a16="http://schemas.microsoft.com/office/drawing/2014/main" id="{75D9DA87-AB17-4381-92B2-A5795B8C8D95}"/>
              </a:ext>
            </a:extLst>
          </p:cNvPr>
          <p:cNvSpPr/>
          <p:nvPr/>
        </p:nvSpPr>
        <p:spPr>
          <a:xfrm>
            <a:off x="7012803" y="2949219"/>
            <a:ext cx="1918610" cy="3085200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8EADF3C2-E0B4-41D9-99AE-7712720590DE}"/>
              </a:ext>
            </a:extLst>
          </p:cNvPr>
          <p:cNvSpPr/>
          <p:nvPr/>
        </p:nvSpPr>
        <p:spPr>
          <a:xfrm>
            <a:off x="5041403" y="1671083"/>
            <a:ext cx="1918610" cy="985032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5E9F352E-5261-4901-858C-0010FB50EAA5}"/>
              </a:ext>
            </a:extLst>
          </p:cNvPr>
          <p:cNvGrpSpPr/>
          <p:nvPr/>
        </p:nvGrpSpPr>
        <p:grpSpPr>
          <a:xfrm>
            <a:off x="5016907" y="1314109"/>
            <a:ext cx="2239869" cy="369332"/>
            <a:chOff x="3488979" y="6039666"/>
            <a:chExt cx="2239869" cy="369332"/>
          </a:xfrm>
        </p:grpSpPr>
        <p:sp>
          <p:nvSpPr>
            <p:cNvPr id="54" name="橢圓 53">
              <a:extLst>
                <a:ext uri="{FF2B5EF4-FFF2-40B4-BE49-F238E27FC236}">
                  <a16:creationId xmlns:a16="http://schemas.microsoft.com/office/drawing/2014/main" id="{5DD419F2-15E3-44B9-B326-BC1D82F36C63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55" name="文字方塊 54">
              <a:extLst>
                <a:ext uri="{FF2B5EF4-FFF2-40B4-BE49-F238E27FC236}">
                  <a16:creationId xmlns:a16="http://schemas.microsoft.com/office/drawing/2014/main" id="{07928857-9415-41B4-8FB8-318A98834EA8}"/>
                </a:ext>
              </a:extLst>
            </p:cNvPr>
            <p:cNvSpPr txBox="1"/>
            <p:nvPr/>
          </p:nvSpPr>
          <p:spPr>
            <a:xfrm>
              <a:off x="3702152" y="6058735"/>
              <a:ext cx="20266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色差資訊總結</a:t>
              </a:r>
            </a:p>
          </p:txBody>
        </p:sp>
        <p:sp>
          <p:nvSpPr>
            <p:cNvPr id="56" name="文字方塊 55">
              <a:extLst>
                <a:ext uri="{FF2B5EF4-FFF2-40B4-BE49-F238E27FC236}">
                  <a16:creationId xmlns:a16="http://schemas.microsoft.com/office/drawing/2014/main" id="{DAB0A56D-0E19-474C-9921-F6DE7EC4A27A}"/>
                </a:ext>
              </a:extLst>
            </p:cNvPr>
            <p:cNvSpPr txBox="1"/>
            <p:nvPr/>
          </p:nvSpPr>
          <p:spPr>
            <a:xfrm>
              <a:off x="3488979" y="6039666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6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57" name="矩形 56">
            <a:extLst>
              <a:ext uri="{FF2B5EF4-FFF2-40B4-BE49-F238E27FC236}">
                <a16:creationId xmlns:a16="http://schemas.microsoft.com/office/drawing/2014/main" id="{649CECD8-759A-4F5A-A80F-39B763E37A46}"/>
              </a:ext>
            </a:extLst>
          </p:cNvPr>
          <p:cNvSpPr/>
          <p:nvPr/>
        </p:nvSpPr>
        <p:spPr>
          <a:xfrm>
            <a:off x="8978537" y="1671082"/>
            <a:ext cx="2342606" cy="532575"/>
          </a:xfrm>
          <a:prstGeom prst="rect">
            <a:avLst/>
          </a:prstGeom>
          <a:noFill/>
          <a:ln w="1905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58" name="群組 57">
            <a:extLst>
              <a:ext uri="{FF2B5EF4-FFF2-40B4-BE49-F238E27FC236}">
                <a16:creationId xmlns:a16="http://schemas.microsoft.com/office/drawing/2014/main" id="{596DA754-68CE-4720-A950-40AFCD39C4A7}"/>
              </a:ext>
            </a:extLst>
          </p:cNvPr>
          <p:cNvGrpSpPr/>
          <p:nvPr/>
        </p:nvGrpSpPr>
        <p:grpSpPr>
          <a:xfrm>
            <a:off x="8940122" y="1324051"/>
            <a:ext cx="1318576" cy="369332"/>
            <a:chOff x="44795" y="6032011"/>
            <a:chExt cx="1318576" cy="369332"/>
          </a:xfrm>
        </p:grpSpPr>
        <p:sp>
          <p:nvSpPr>
            <p:cNvPr id="59" name="橢圓 58">
              <a:extLst>
                <a:ext uri="{FF2B5EF4-FFF2-40B4-BE49-F238E27FC236}">
                  <a16:creationId xmlns:a16="http://schemas.microsoft.com/office/drawing/2014/main" id="{DFA335C4-EB74-4624-9883-1A3F5BFB03FE}"/>
                </a:ext>
              </a:extLst>
            </p:cNvPr>
            <p:cNvSpPr/>
            <p:nvPr/>
          </p:nvSpPr>
          <p:spPr>
            <a:xfrm>
              <a:off x="66675" y="6094632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0" name="文字方塊 59">
              <a:extLst>
                <a:ext uri="{FF2B5EF4-FFF2-40B4-BE49-F238E27FC236}">
                  <a16:creationId xmlns:a16="http://schemas.microsoft.com/office/drawing/2014/main" id="{2E3E1E2E-692F-4940-9119-8B86AF66443B}"/>
                </a:ext>
              </a:extLst>
            </p:cNvPr>
            <p:cNvSpPr txBox="1"/>
            <p:nvPr/>
          </p:nvSpPr>
          <p:spPr>
            <a:xfrm>
              <a:off x="44795" y="6032011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7</a:t>
              </a:r>
              <a:endParaRPr kumimoji="1" lang="zh-TW" altLang="en-US" dirty="0"/>
            </a:p>
          </p:txBody>
        </p:sp>
        <p:sp>
          <p:nvSpPr>
            <p:cNvPr id="61" name="文字方塊 60">
              <a:extLst>
                <a:ext uri="{FF2B5EF4-FFF2-40B4-BE49-F238E27FC236}">
                  <a16:creationId xmlns:a16="http://schemas.microsoft.com/office/drawing/2014/main" id="{9136AA67-1949-4FE6-A67A-205E214A313D}"/>
                </a:ext>
              </a:extLst>
            </p:cNvPr>
            <p:cNvSpPr txBox="1"/>
            <p:nvPr/>
          </p:nvSpPr>
          <p:spPr>
            <a:xfrm>
              <a:off x="257969" y="6051896"/>
              <a:ext cx="11054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原始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CCM</a:t>
              </a:r>
              <a:endPara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sp>
        <p:nvSpPr>
          <p:cNvPr id="62" name="矩形 61">
            <a:extLst>
              <a:ext uri="{FF2B5EF4-FFF2-40B4-BE49-F238E27FC236}">
                <a16:creationId xmlns:a16="http://schemas.microsoft.com/office/drawing/2014/main" id="{032E2F35-4546-4212-B6CD-CC045F33CF69}"/>
              </a:ext>
            </a:extLst>
          </p:cNvPr>
          <p:cNvSpPr/>
          <p:nvPr/>
        </p:nvSpPr>
        <p:spPr>
          <a:xfrm>
            <a:off x="11321143" y="1671732"/>
            <a:ext cx="870858" cy="531925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B8E78D2-7BC9-4250-9A25-1DBEE616A426}"/>
              </a:ext>
            </a:extLst>
          </p:cNvPr>
          <p:cNvGrpSpPr/>
          <p:nvPr/>
        </p:nvGrpSpPr>
        <p:grpSpPr>
          <a:xfrm>
            <a:off x="10698611" y="1318676"/>
            <a:ext cx="1515269" cy="369332"/>
            <a:chOff x="3488979" y="6040482"/>
            <a:chExt cx="1515269" cy="369332"/>
          </a:xfrm>
        </p:grpSpPr>
        <p:sp>
          <p:nvSpPr>
            <p:cNvPr id="64" name="橢圓 63">
              <a:extLst>
                <a:ext uri="{FF2B5EF4-FFF2-40B4-BE49-F238E27FC236}">
                  <a16:creationId xmlns:a16="http://schemas.microsoft.com/office/drawing/2014/main" id="{D26DF4F3-DF7C-46D8-8E61-2D5DDCA74598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65" name="文字方塊 64">
              <a:extLst>
                <a:ext uri="{FF2B5EF4-FFF2-40B4-BE49-F238E27FC236}">
                  <a16:creationId xmlns:a16="http://schemas.microsoft.com/office/drawing/2014/main" id="{4C818B5D-E2A4-4519-821D-7FFAF8A3F6A0}"/>
                </a:ext>
              </a:extLst>
            </p:cNvPr>
            <p:cNvSpPr txBox="1"/>
            <p:nvPr/>
          </p:nvSpPr>
          <p:spPr>
            <a:xfrm>
              <a:off x="3702152" y="6058735"/>
              <a:ext cx="1302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調整後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CCM</a:t>
              </a:r>
              <a:endPara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66" name="文字方塊 65">
              <a:extLst>
                <a:ext uri="{FF2B5EF4-FFF2-40B4-BE49-F238E27FC236}">
                  <a16:creationId xmlns:a16="http://schemas.microsoft.com/office/drawing/2014/main" id="{4A4360B8-E100-403E-ACAF-6412EB806338}"/>
                </a:ext>
              </a:extLst>
            </p:cNvPr>
            <p:cNvSpPr txBox="1"/>
            <p:nvPr/>
          </p:nvSpPr>
          <p:spPr>
            <a:xfrm>
              <a:off x="3488979" y="6040482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9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69" name="橢圓 68">
            <a:extLst>
              <a:ext uri="{FF2B5EF4-FFF2-40B4-BE49-F238E27FC236}">
                <a16:creationId xmlns:a16="http://schemas.microsoft.com/office/drawing/2014/main" id="{E51202A6-2BB8-4887-8D43-3A8C7FE81EF3}"/>
              </a:ext>
            </a:extLst>
          </p:cNvPr>
          <p:cNvSpPr/>
          <p:nvPr/>
        </p:nvSpPr>
        <p:spPr>
          <a:xfrm>
            <a:off x="4143673" y="767041"/>
            <a:ext cx="253072" cy="253072"/>
          </a:xfrm>
          <a:prstGeom prst="ellips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1" name="文字方塊 70">
            <a:extLst>
              <a:ext uri="{FF2B5EF4-FFF2-40B4-BE49-F238E27FC236}">
                <a16:creationId xmlns:a16="http://schemas.microsoft.com/office/drawing/2014/main" id="{6601FBE1-9AC4-4511-8022-E0E56F34C2C8}"/>
              </a:ext>
            </a:extLst>
          </p:cNvPr>
          <p:cNvSpPr txBox="1"/>
          <p:nvPr/>
        </p:nvSpPr>
        <p:spPr>
          <a:xfrm>
            <a:off x="4343676" y="724305"/>
            <a:ext cx="143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Input data</a:t>
            </a:r>
            <a:endParaRPr kumimoji="1" lang="zh-TW" alt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2" name="橢圓 71">
            <a:extLst>
              <a:ext uri="{FF2B5EF4-FFF2-40B4-BE49-F238E27FC236}">
                <a16:creationId xmlns:a16="http://schemas.microsoft.com/office/drawing/2014/main" id="{77AFF4C3-9860-4846-A808-7C9856D546C3}"/>
              </a:ext>
            </a:extLst>
          </p:cNvPr>
          <p:cNvSpPr/>
          <p:nvPr/>
        </p:nvSpPr>
        <p:spPr>
          <a:xfrm>
            <a:off x="5633508" y="761882"/>
            <a:ext cx="253072" cy="253072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3" name="文字方塊 72">
            <a:extLst>
              <a:ext uri="{FF2B5EF4-FFF2-40B4-BE49-F238E27FC236}">
                <a16:creationId xmlns:a16="http://schemas.microsoft.com/office/drawing/2014/main" id="{2111BE25-408F-4D9C-956A-BF7DC8E712C7}"/>
              </a:ext>
            </a:extLst>
          </p:cNvPr>
          <p:cNvSpPr txBox="1"/>
          <p:nvPr/>
        </p:nvSpPr>
        <p:spPr>
          <a:xfrm>
            <a:off x="5833511" y="719146"/>
            <a:ext cx="14388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Output data</a:t>
            </a:r>
            <a:endParaRPr kumimoji="1" lang="zh-TW" alt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74" name="橢圓 73">
            <a:extLst>
              <a:ext uri="{FF2B5EF4-FFF2-40B4-BE49-F238E27FC236}">
                <a16:creationId xmlns:a16="http://schemas.microsoft.com/office/drawing/2014/main" id="{AB7866F4-C14C-478B-9874-68C6CEFD419C}"/>
              </a:ext>
            </a:extLst>
          </p:cNvPr>
          <p:cNvSpPr/>
          <p:nvPr/>
        </p:nvSpPr>
        <p:spPr>
          <a:xfrm>
            <a:off x="7301303" y="767655"/>
            <a:ext cx="253072" cy="253072"/>
          </a:xfrm>
          <a:prstGeom prst="ellipse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75" name="文字方塊 74">
            <a:extLst>
              <a:ext uri="{FF2B5EF4-FFF2-40B4-BE49-F238E27FC236}">
                <a16:creationId xmlns:a16="http://schemas.microsoft.com/office/drawing/2014/main" id="{66CFCA8E-4618-42C4-9446-90133EFD7E42}"/>
              </a:ext>
            </a:extLst>
          </p:cNvPr>
          <p:cNvSpPr txBox="1"/>
          <p:nvPr/>
        </p:nvSpPr>
        <p:spPr>
          <a:xfrm>
            <a:off x="7501305" y="724919"/>
            <a:ext cx="180815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600" dirty="0">
                <a:latin typeface="Microsoft JhengHei" panose="020B0604030504040204" pitchFamily="34" charset="-120"/>
                <a:ea typeface="Microsoft JhengHei" panose="020B0604030504040204" pitchFamily="34" charset="-120"/>
              </a:rPr>
              <a:t>Simulated value</a:t>
            </a:r>
            <a:endParaRPr kumimoji="1" lang="zh-TW" altLang="en-US" sz="1600" dirty="0"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pic>
        <p:nvPicPr>
          <p:cNvPr id="77" name="圖片 76">
            <a:extLst>
              <a:ext uri="{FF2B5EF4-FFF2-40B4-BE49-F238E27FC236}">
                <a16:creationId xmlns:a16="http://schemas.microsoft.com/office/drawing/2014/main" id="{816BA786-3626-43E2-9CAD-91E21A064C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0120" y="5096202"/>
            <a:ext cx="2200746" cy="15588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grpSp>
        <p:nvGrpSpPr>
          <p:cNvPr id="78" name="群組 77">
            <a:extLst>
              <a:ext uri="{FF2B5EF4-FFF2-40B4-BE49-F238E27FC236}">
                <a16:creationId xmlns:a16="http://schemas.microsoft.com/office/drawing/2014/main" id="{284F1481-FB5A-4FE6-A39B-FE2FA93E1720}"/>
              </a:ext>
            </a:extLst>
          </p:cNvPr>
          <p:cNvGrpSpPr/>
          <p:nvPr/>
        </p:nvGrpSpPr>
        <p:grpSpPr>
          <a:xfrm>
            <a:off x="9754250" y="4737618"/>
            <a:ext cx="2123425" cy="339709"/>
            <a:chOff x="3430860" y="6057580"/>
            <a:chExt cx="2123425" cy="339709"/>
          </a:xfrm>
        </p:grpSpPr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9F99CB40-0B81-4FDF-BD81-197644287EDD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0" name="文字方塊 79">
              <a:extLst>
                <a:ext uri="{FF2B5EF4-FFF2-40B4-BE49-F238E27FC236}">
                  <a16:creationId xmlns:a16="http://schemas.microsoft.com/office/drawing/2014/main" id="{7BA4A3BE-D4A6-4665-A041-D21F8CE2F14A}"/>
                </a:ext>
              </a:extLst>
            </p:cNvPr>
            <p:cNvSpPr txBox="1"/>
            <p:nvPr/>
          </p:nvSpPr>
          <p:spPr>
            <a:xfrm>
              <a:off x="3702152" y="6058735"/>
              <a:ext cx="185213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色度圖及色差排序</a:t>
              </a:r>
            </a:p>
          </p:txBody>
        </p:sp>
        <p:sp>
          <p:nvSpPr>
            <p:cNvPr id="81" name="文字方塊 80">
              <a:extLst>
                <a:ext uri="{FF2B5EF4-FFF2-40B4-BE49-F238E27FC236}">
                  <a16:creationId xmlns:a16="http://schemas.microsoft.com/office/drawing/2014/main" id="{6474ED84-9922-4CDE-9DA8-B273657DA9C0}"/>
                </a:ext>
              </a:extLst>
            </p:cNvPr>
            <p:cNvSpPr txBox="1"/>
            <p:nvPr/>
          </p:nvSpPr>
          <p:spPr>
            <a:xfrm>
              <a:off x="3430860" y="6057580"/>
              <a:ext cx="4215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solidFill>
                    <a:schemeClr val="bg1"/>
                  </a:solidFill>
                </a:rPr>
                <a:t>10</a:t>
              </a:r>
              <a:endParaRPr kumimoji="1" lang="zh-TW" altLang="en-US" sz="1600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矩形 81">
            <a:extLst>
              <a:ext uri="{FF2B5EF4-FFF2-40B4-BE49-F238E27FC236}">
                <a16:creationId xmlns:a16="http://schemas.microsoft.com/office/drawing/2014/main" id="{C99E8685-F0BC-450F-B99F-3AEDCDC619A2}"/>
              </a:ext>
            </a:extLst>
          </p:cNvPr>
          <p:cNvSpPr/>
          <p:nvPr/>
        </p:nvSpPr>
        <p:spPr>
          <a:xfrm>
            <a:off x="8982076" y="2949218"/>
            <a:ext cx="3114674" cy="3794481"/>
          </a:xfrm>
          <a:prstGeom prst="rect">
            <a:avLst/>
          </a:prstGeom>
          <a:noFill/>
          <a:ln w="190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83" name="群組 82">
            <a:extLst>
              <a:ext uri="{FF2B5EF4-FFF2-40B4-BE49-F238E27FC236}">
                <a16:creationId xmlns:a16="http://schemas.microsoft.com/office/drawing/2014/main" id="{B687C31A-5D2D-4A0B-AB5D-6302853069E6}"/>
              </a:ext>
            </a:extLst>
          </p:cNvPr>
          <p:cNvGrpSpPr/>
          <p:nvPr/>
        </p:nvGrpSpPr>
        <p:grpSpPr>
          <a:xfrm>
            <a:off x="7019556" y="1320044"/>
            <a:ext cx="1803849" cy="369332"/>
            <a:chOff x="3501074" y="1302626"/>
            <a:chExt cx="1803849" cy="369332"/>
          </a:xfrm>
        </p:grpSpPr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CA670F84-E608-4482-A56A-D4E26C1C198D}"/>
                </a:ext>
              </a:extLst>
            </p:cNvPr>
            <p:cNvSpPr/>
            <p:nvPr/>
          </p:nvSpPr>
          <p:spPr>
            <a:xfrm>
              <a:off x="3522954" y="1365247"/>
              <a:ext cx="253072" cy="253072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85" name="文字方塊 84">
              <a:extLst>
                <a:ext uri="{FF2B5EF4-FFF2-40B4-BE49-F238E27FC236}">
                  <a16:creationId xmlns:a16="http://schemas.microsoft.com/office/drawing/2014/main" id="{7F08D872-7CD6-4CDA-B4B8-4FBFDACC3BC5}"/>
                </a:ext>
              </a:extLst>
            </p:cNvPr>
            <p:cNvSpPr txBox="1"/>
            <p:nvPr/>
          </p:nvSpPr>
          <p:spPr>
            <a:xfrm>
              <a:off x="3714247" y="1322511"/>
              <a:ext cx="159067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AWB</a:t>
              </a:r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限制檢驗</a:t>
              </a:r>
            </a:p>
          </p:txBody>
        </p: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7D9792F5-6ACE-4E6C-A01A-50574F466D66}"/>
                </a:ext>
              </a:extLst>
            </p:cNvPr>
            <p:cNvSpPr txBox="1"/>
            <p:nvPr/>
          </p:nvSpPr>
          <p:spPr>
            <a:xfrm>
              <a:off x="3501074" y="1302626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4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629BEFD3-32F0-E75B-C79F-EF1BF8D4834A}"/>
              </a:ext>
            </a:extLst>
          </p:cNvPr>
          <p:cNvSpPr/>
          <p:nvPr/>
        </p:nvSpPr>
        <p:spPr>
          <a:xfrm>
            <a:off x="7012803" y="1671082"/>
            <a:ext cx="1918610" cy="985032"/>
          </a:xfrm>
          <a:prstGeom prst="rect">
            <a:avLst/>
          </a:prstGeom>
          <a:noFill/>
          <a:ln w="190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grpSp>
        <p:nvGrpSpPr>
          <p:cNvPr id="18" name="群組 17">
            <a:extLst>
              <a:ext uri="{FF2B5EF4-FFF2-40B4-BE49-F238E27FC236}">
                <a16:creationId xmlns:a16="http://schemas.microsoft.com/office/drawing/2014/main" id="{39DBA7FC-FDF5-F43E-7295-29D3D3AD0E35}"/>
              </a:ext>
            </a:extLst>
          </p:cNvPr>
          <p:cNvGrpSpPr/>
          <p:nvPr/>
        </p:nvGrpSpPr>
        <p:grpSpPr>
          <a:xfrm>
            <a:off x="10427569" y="752088"/>
            <a:ext cx="1787148" cy="563322"/>
            <a:chOff x="10427569" y="752088"/>
            <a:chExt cx="1787148" cy="563322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378E8F28-CDA6-073C-C84A-C6253722B9D6}"/>
                </a:ext>
              </a:extLst>
            </p:cNvPr>
            <p:cNvSpPr/>
            <p:nvPr/>
          </p:nvSpPr>
          <p:spPr>
            <a:xfrm>
              <a:off x="10440586" y="1016272"/>
              <a:ext cx="253072" cy="253072"/>
            </a:xfrm>
            <a:prstGeom prst="ellipse">
              <a:avLst/>
            </a:prstGeom>
            <a:solidFill>
              <a:srgbClr val="FFC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7EFE1797-4E04-1C42-3EC7-FE2A1CAA536B}"/>
                </a:ext>
              </a:extLst>
            </p:cNvPr>
            <p:cNvSpPr txBox="1"/>
            <p:nvPr/>
          </p:nvSpPr>
          <p:spPr>
            <a:xfrm>
              <a:off x="10631878" y="973536"/>
              <a:ext cx="158283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原始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gamma</a:t>
              </a:r>
              <a:endPara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15" name="文字方塊 14">
              <a:extLst>
                <a:ext uri="{FF2B5EF4-FFF2-40B4-BE49-F238E27FC236}">
                  <a16:creationId xmlns:a16="http://schemas.microsoft.com/office/drawing/2014/main" id="{E0A782C7-7C97-45A0-1286-7D43E54AF45F}"/>
                </a:ext>
              </a:extLst>
            </p:cNvPr>
            <p:cNvSpPr txBox="1"/>
            <p:nvPr/>
          </p:nvSpPr>
          <p:spPr>
            <a:xfrm>
              <a:off x="10631877" y="752088"/>
              <a:ext cx="1451167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200" dirty="0"/>
                <a:t>(</a:t>
              </a:r>
              <a:r>
                <a:rPr lang="zh-TW" altLang="en-US" sz="1200" dirty="0"/>
                <a:t>在另三個頁籤中</a:t>
              </a:r>
              <a:r>
                <a:rPr lang="en-US" altLang="zh-TW" sz="1200" dirty="0"/>
                <a:t>)</a:t>
              </a:r>
              <a:endParaRPr lang="zh-TW" altLang="en-US" sz="1200" dirty="0"/>
            </a:p>
          </p:txBody>
        </p:sp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17E2E882-5D90-A8CA-7687-ADE801902601}"/>
                </a:ext>
              </a:extLst>
            </p:cNvPr>
            <p:cNvSpPr txBox="1"/>
            <p:nvPr/>
          </p:nvSpPr>
          <p:spPr>
            <a:xfrm>
              <a:off x="10427569" y="946078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8</a:t>
              </a:r>
              <a:endParaRPr kumimoji="1" lang="zh-TW" altLang="en-US" dirty="0"/>
            </a:p>
          </p:txBody>
        </p:sp>
      </p:grpSp>
      <p:pic>
        <p:nvPicPr>
          <p:cNvPr id="25" name="圖片 24">
            <a:extLst>
              <a:ext uri="{FF2B5EF4-FFF2-40B4-BE49-F238E27FC236}">
                <a16:creationId xmlns:a16="http://schemas.microsoft.com/office/drawing/2014/main" id="{A3D0D52D-8E20-0B48-B6D4-44617ED5D6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17397" y="484680"/>
            <a:ext cx="2460278" cy="227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2371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Simulator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using guide</a:t>
            </a:r>
          </a:p>
        </p:txBody>
      </p:sp>
      <p:sp>
        <p:nvSpPr>
          <p:cNvPr id="21" name="內容版面配置區 2">
            <a:extLst>
              <a:ext uri="{FF2B5EF4-FFF2-40B4-BE49-F238E27FC236}">
                <a16:creationId xmlns:a16="http://schemas.microsoft.com/office/drawing/2014/main" id="{4A8336AF-05D3-4BF7-9DB7-ACECD17345E1}"/>
              </a:ext>
            </a:extLst>
          </p:cNvPr>
          <p:cNvSpPr txBox="1">
            <a:spLocks/>
          </p:cNvSpPr>
          <p:nvPr/>
        </p:nvSpPr>
        <p:spPr>
          <a:xfrm>
            <a:off x="567265" y="1462338"/>
            <a:ext cx="10910359" cy="10666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輸入色卡的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目標及原始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（目標：對比機、原始：現有參數拍攝）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觀察       </a:t>
            </a:r>
            <a:r>
              <a:rPr lang="zh-TW" altLang="en-US" sz="1400" u="sng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目標及原始色差</a:t>
            </a: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及       </a:t>
            </a:r>
            <a:r>
              <a:rPr lang="zh-TW" altLang="en-US" sz="1400" u="sng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色差資訊總結</a:t>
            </a:r>
            <a:r>
              <a:rPr lang="en-US" altLang="zh-TW" sz="1400" u="sng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(target / original) </a:t>
            </a: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的數值</a:t>
            </a:r>
            <a:endParaRPr lang="en-US" altLang="zh-TW" sz="1800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2E4F3F50-7AD7-48D3-8CF0-DBA68C68D863}"/>
              </a:ext>
            </a:extLst>
          </p:cNvPr>
          <p:cNvGrpSpPr/>
          <p:nvPr/>
        </p:nvGrpSpPr>
        <p:grpSpPr>
          <a:xfrm>
            <a:off x="2986217" y="1191999"/>
            <a:ext cx="288580" cy="369332"/>
            <a:chOff x="44795" y="2570234"/>
            <a:chExt cx="288580" cy="369332"/>
          </a:xfrm>
        </p:grpSpPr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91F6F511-EE80-4600-9BE3-91102C1B4D33}"/>
                </a:ext>
              </a:extLst>
            </p:cNvPr>
            <p:cNvSpPr/>
            <p:nvPr/>
          </p:nvSpPr>
          <p:spPr>
            <a:xfrm>
              <a:off x="66675" y="2632855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7" name="文字方塊 6">
              <a:extLst>
                <a:ext uri="{FF2B5EF4-FFF2-40B4-BE49-F238E27FC236}">
                  <a16:creationId xmlns:a16="http://schemas.microsoft.com/office/drawing/2014/main" id="{0C91DF34-D12B-4478-A733-A90C09F29C93}"/>
                </a:ext>
              </a:extLst>
            </p:cNvPr>
            <p:cNvSpPr txBox="1"/>
            <p:nvPr/>
          </p:nvSpPr>
          <p:spPr>
            <a:xfrm>
              <a:off x="44795" y="2570234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1</a:t>
              </a:r>
              <a:endParaRPr kumimoji="1" lang="zh-TW" altLang="en-US" dirty="0"/>
            </a:p>
          </p:txBody>
        </p: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F4607BF9-D3E0-4EF9-B01A-F18D5C057DC5}"/>
              </a:ext>
            </a:extLst>
          </p:cNvPr>
          <p:cNvGrpSpPr/>
          <p:nvPr/>
        </p:nvGrpSpPr>
        <p:grpSpPr>
          <a:xfrm>
            <a:off x="4784010" y="1194468"/>
            <a:ext cx="288580" cy="369332"/>
            <a:chOff x="44795" y="2570234"/>
            <a:chExt cx="288580" cy="369332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06B94BB4-41D4-4541-B330-54EAECD6EED9}"/>
                </a:ext>
              </a:extLst>
            </p:cNvPr>
            <p:cNvSpPr/>
            <p:nvPr/>
          </p:nvSpPr>
          <p:spPr>
            <a:xfrm>
              <a:off x="66675" y="2632855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3" name="文字方塊 12">
              <a:extLst>
                <a:ext uri="{FF2B5EF4-FFF2-40B4-BE49-F238E27FC236}">
                  <a16:creationId xmlns:a16="http://schemas.microsoft.com/office/drawing/2014/main" id="{C21D268A-08B0-46FC-8561-08306CBC82DD}"/>
                </a:ext>
              </a:extLst>
            </p:cNvPr>
            <p:cNvSpPr txBox="1"/>
            <p:nvPr/>
          </p:nvSpPr>
          <p:spPr>
            <a:xfrm>
              <a:off x="44795" y="2570234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7</a:t>
              </a:r>
              <a:endParaRPr kumimoji="1" lang="zh-TW" altLang="en-US" dirty="0"/>
            </a:p>
          </p:txBody>
        </p:sp>
      </p:grp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0B3A888-D953-4DD0-ADB0-408CFCD7E275}"/>
              </a:ext>
            </a:extLst>
          </p:cNvPr>
          <p:cNvGrpSpPr/>
          <p:nvPr/>
        </p:nvGrpSpPr>
        <p:grpSpPr>
          <a:xfrm>
            <a:off x="3638748" y="1830176"/>
            <a:ext cx="288580" cy="369332"/>
            <a:chOff x="5131835" y="6025118"/>
            <a:chExt cx="288580" cy="369332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4616F693-8F56-4B7C-B510-D809FFAE0EE0}"/>
                </a:ext>
              </a:extLst>
            </p:cNvPr>
            <p:cNvSpPr/>
            <p:nvPr/>
          </p:nvSpPr>
          <p:spPr>
            <a:xfrm>
              <a:off x="5153715" y="6086923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17" name="文字方塊 16">
              <a:extLst>
                <a:ext uri="{FF2B5EF4-FFF2-40B4-BE49-F238E27FC236}">
                  <a16:creationId xmlns:a16="http://schemas.microsoft.com/office/drawing/2014/main" id="{8BFC1DCC-7C0F-4E15-97DD-5711F937C8DD}"/>
                </a:ext>
              </a:extLst>
            </p:cNvPr>
            <p:cNvSpPr txBox="1"/>
            <p:nvPr/>
          </p:nvSpPr>
          <p:spPr>
            <a:xfrm>
              <a:off x="5131835" y="6025118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5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53B21280-9DA0-436E-8DC7-0468486EB003}"/>
              </a:ext>
            </a:extLst>
          </p:cNvPr>
          <p:cNvGrpSpPr/>
          <p:nvPr/>
        </p:nvGrpSpPr>
        <p:grpSpPr>
          <a:xfrm>
            <a:off x="5364785" y="1830176"/>
            <a:ext cx="288580" cy="369332"/>
            <a:chOff x="5131835" y="6025118"/>
            <a:chExt cx="288580" cy="369332"/>
          </a:xfrm>
        </p:grpSpPr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0EA097E4-58E5-460C-A08D-F79440EA334A}"/>
                </a:ext>
              </a:extLst>
            </p:cNvPr>
            <p:cNvSpPr/>
            <p:nvPr/>
          </p:nvSpPr>
          <p:spPr>
            <a:xfrm>
              <a:off x="5153715" y="6086923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6B0ECFC9-C7E1-4C48-90BB-DC87CDA04B86}"/>
                </a:ext>
              </a:extLst>
            </p:cNvPr>
            <p:cNvSpPr txBox="1"/>
            <p:nvPr/>
          </p:nvSpPr>
          <p:spPr>
            <a:xfrm>
              <a:off x="5131835" y="6025118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6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63" name="群組 62">
            <a:extLst>
              <a:ext uri="{FF2B5EF4-FFF2-40B4-BE49-F238E27FC236}">
                <a16:creationId xmlns:a16="http://schemas.microsoft.com/office/drawing/2014/main" id="{5A6322BF-CA18-4740-B88A-FB8630F813A1}"/>
              </a:ext>
            </a:extLst>
          </p:cNvPr>
          <p:cNvGrpSpPr/>
          <p:nvPr/>
        </p:nvGrpSpPr>
        <p:grpSpPr>
          <a:xfrm>
            <a:off x="567265" y="4892855"/>
            <a:ext cx="10910359" cy="714085"/>
            <a:chOff x="567265" y="4016935"/>
            <a:chExt cx="10910359" cy="714085"/>
          </a:xfrm>
        </p:grpSpPr>
        <p:sp>
          <p:nvSpPr>
            <p:cNvPr id="44" name="內容版面配置區 2">
              <a:extLst>
                <a:ext uri="{FF2B5EF4-FFF2-40B4-BE49-F238E27FC236}">
                  <a16:creationId xmlns:a16="http://schemas.microsoft.com/office/drawing/2014/main" id="{FB79A8AB-0A6E-4059-BF14-62C56869548A}"/>
                </a:ext>
              </a:extLst>
            </p:cNvPr>
            <p:cNvSpPr txBox="1">
              <a:spLocks/>
            </p:cNvSpPr>
            <p:nvPr/>
          </p:nvSpPr>
          <p:spPr>
            <a:xfrm>
              <a:off x="567265" y="4288783"/>
              <a:ext cx="10910359" cy="44223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按快捷鍵</a:t>
              </a:r>
              <a:r>
                <a:rPr lang="en-US" altLang="zh-TW" sz="1800" dirty="0" err="1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ctrl+j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會更新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即時觀察色塊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，並以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色度圖及色差排序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分析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CCM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的調整結果</a:t>
              </a:r>
              <a:endPara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275F66AC-10DC-4159-9585-70216292691F}"/>
                </a:ext>
              </a:extLst>
            </p:cNvPr>
            <p:cNvGrpSpPr/>
            <p:nvPr/>
          </p:nvGrpSpPr>
          <p:grpSpPr>
            <a:xfrm>
              <a:off x="4639720" y="4016935"/>
              <a:ext cx="288580" cy="369332"/>
              <a:chOff x="5131835" y="6025118"/>
              <a:chExt cx="288580" cy="369332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F4E346DC-EFF7-4315-9E15-555D453124D1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7" name="文字方塊 46">
                <a:extLst>
                  <a:ext uri="{FF2B5EF4-FFF2-40B4-BE49-F238E27FC236}">
                    <a16:creationId xmlns:a16="http://schemas.microsoft.com/office/drawing/2014/main" id="{E65387AA-92B4-44C1-BF29-1BF505DEB11B}"/>
                  </a:ext>
                </a:extLst>
              </p:cNvPr>
              <p:cNvSpPr txBox="1"/>
              <p:nvPr/>
            </p:nvSpPr>
            <p:spPr>
              <a:xfrm>
                <a:off x="5131835" y="6025118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2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8" name="群組 47">
              <a:extLst>
                <a:ext uri="{FF2B5EF4-FFF2-40B4-BE49-F238E27FC236}">
                  <a16:creationId xmlns:a16="http://schemas.microsoft.com/office/drawing/2014/main" id="{48CA3EF4-93C3-4374-9E0A-F9ACB195E5AE}"/>
                </a:ext>
              </a:extLst>
            </p:cNvPr>
            <p:cNvGrpSpPr/>
            <p:nvPr/>
          </p:nvGrpSpPr>
          <p:grpSpPr>
            <a:xfrm>
              <a:off x="6865027" y="4033562"/>
              <a:ext cx="525674" cy="338554"/>
              <a:chOff x="5080400" y="6033507"/>
              <a:chExt cx="525674" cy="338554"/>
            </a:xfrm>
          </p:grpSpPr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D50623E7-2D78-43A6-8438-CEE001A90A54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0" name="文字方塊 49">
                <a:extLst>
                  <a:ext uri="{FF2B5EF4-FFF2-40B4-BE49-F238E27FC236}">
                    <a16:creationId xmlns:a16="http://schemas.microsoft.com/office/drawing/2014/main" id="{38963CF0-CBD8-4BAB-8418-98E993E703C2}"/>
                  </a:ext>
                </a:extLst>
              </p:cNvPr>
              <p:cNvSpPr txBox="1"/>
              <p:nvPr/>
            </p:nvSpPr>
            <p:spPr>
              <a:xfrm>
                <a:off x="5080400" y="6033507"/>
                <a:ext cx="525674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sz="1600" dirty="0">
                    <a:solidFill>
                      <a:schemeClr val="bg1"/>
                    </a:solidFill>
                  </a:rPr>
                  <a:t>10</a:t>
                </a:r>
                <a:endParaRPr kumimoji="1" lang="zh-TW" altLang="en-US" sz="1600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64" name="群組 63">
            <a:extLst>
              <a:ext uri="{FF2B5EF4-FFF2-40B4-BE49-F238E27FC236}">
                <a16:creationId xmlns:a16="http://schemas.microsoft.com/office/drawing/2014/main" id="{202C2FC2-2048-4004-803F-982FBACE6C5E}"/>
              </a:ext>
            </a:extLst>
          </p:cNvPr>
          <p:cNvGrpSpPr/>
          <p:nvPr/>
        </p:nvGrpSpPr>
        <p:grpSpPr>
          <a:xfrm>
            <a:off x="567265" y="5663532"/>
            <a:ext cx="10910359" cy="705007"/>
            <a:chOff x="567265" y="4834678"/>
            <a:chExt cx="10910359" cy="705007"/>
          </a:xfrm>
        </p:grpSpPr>
        <p:sp>
          <p:nvSpPr>
            <p:cNvPr id="57" name="內容版面配置區 2">
              <a:extLst>
                <a:ext uri="{FF2B5EF4-FFF2-40B4-BE49-F238E27FC236}">
                  <a16:creationId xmlns:a16="http://schemas.microsoft.com/office/drawing/2014/main" id="{6EDF2BD7-623B-4B3A-82A0-77F3A551BADD}"/>
                </a:ext>
              </a:extLst>
            </p:cNvPr>
            <p:cNvSpPr txBox="1">
              <a:spLocks/>
            </p:cNvSpPr>
            <p:nvPr/>
          </p:nvSpPr>
          <p:spPr>
            <a:xfrm>
              <a:off x="567265" y="5097448"/>
              <a:ext cx="10910359" cy="442237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複製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調整後</a:t>
              </a:r>
              <a:r>
                <a:rPr lang="en-US" altLang="zh-TW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CCM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的數值，直接貼入</a:t>
              </a:r>
              <a:r>
                <a:rPr lang="en-US" altLang="zh-TW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cc13_ope.xml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檔案中，並將參數推入手機驗證</a:t>
              </a:r>
              <a:endPara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BCC19F8E-FF3B-45D5-A2C1-2424E8D283EF}"/>
                </a:ext>
              </a:extLst>
            </p:cNvPr>
            <p:cNvGrpSpPr/>
            <p:nvPr/>
          </p:nvGrpSpPr>
          <p:grpSpPr>
            <a:xfrm>
              <a:off x="2964337" y="4834678"/>
              <a:ext cx="288580" cy="369332"/>
              <a:chOff x="5131835" y="6025118"/>
              <a:chExt cx="288580" cy="369332"/>
            </a:xfrm>
          </p:grpSpPr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0FA5AD02-3A08-47EB-8757-69A2BDA87F68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60" name="文字方塊 59">
                <a:extLst>
                  <a:ext uri="{FF2B5EF4-FFF2-40B4-BE49-F238E27FC236}">
                    <a16:creationId xmlns:a16="http://schemas.microsoft.com/office/drawing/2014/main" id="{CD68904D-5BD7-440C-BF7F-6B4F4FB1E3D8}"/>
                  </a:ext>
                </a:extLst>
              </p:cNvPr>
              <p:cNvSpPr txBox="1"/>
              <p:nvPr/>
            </p:nvSpPr>
            <p:spPr>
              <a:xfrm>
                <a:off x="5131835" y="6025118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9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1" name="群組 70">
            <a:extLst>
              <a:ext uri="{FF2B5EF4-FFF2-40B4-BE49-F238E27FC236}">
                <a16:creationId xmlns:a16="http://schemas.microsoft.com/office/drawing/2014/main" id="{2F3C97E1-3C9D-49FF-BF65-D8743D31AF57}"/>
              </a:ext>
            </a:extLst>
          </p:cNvPr>
          <p:cNvGrpSpPr/>
          <p:nvPr/>
        </p:nvGrpSpPr>
        <p:grpSpPr>
          <a:xfrm>
            <a:off x="567265" y="3655919"/>
            <a:ext cx="10910359" cy="1002261"/>
            <a:chOff x="567265" y="2880392"/>
            <a:chExt cx="10910359" cy="1002261"/>
          </a:xfrm>
        </p:grpSpPr>
        <p:sp>
          <p:nvSpPr>
            <p:cNvPr id="25" name="內容版面配置區 2">
              <a:extLst>
                <a:ext uri="{FF2B5EF4-FFF2-40B4-BE49-F238E27FC236}">
                  <a16:creationId xmlns:a16="http://schemas.microsoft.com/office/drawing/2014/main" id="{A1F8F224-9148-42B2-BC95-41CE6FD9B513}"/>
                </a:ext>
              </a:extLst>
            </p:cNvPr>
            <p:cNvSpPr txBox="1">
              <a:spLocks/>
            </p:cNvSpPr>
            <p:nvPr/>
          </p:nvSpPr>
          <p:spPr>
            <a:xfrm>
              <a:off x="567265" y="3144001"/>
              <a:ext cx="10910359" cy="715622"/>
            </a:xfrm>
            <a:prstGeom prst="rect">
              <a:avLst/>
            </a:prstGeom>
          </p:spPr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lnSpc>
                  <a:spcPct val="100000"/>
                </a:lnSpc>
                <a:buNone/>
              </a:pP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修改</a:t>
              </a:r>
              <a:r>
                <a:rPr lang="en-US" altLang="zh-TW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CCM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調整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的數值（須注意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限制檢驗</a:t>
              </a:r>
              <a:r>
                <a:rPr lang="zh-TW" altLang="en-US" sz="1800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區塊），會及時產生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模擬</a:t>
              </a:r>
              <a:r>
                <a:rPr lang="en-US" altLang="zh-TW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sRGB</a:t>
              </a:r>
              <a:r>
                <a:rPr lang="zh-TW" altLang="en-US" sz="1800" u="sng" dirty="0"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數值</a:t>
              </a:r>
              <a:endPara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endParaRPr>
            </a:p>
            <a:p>
              <a:pPr marL="0" indent="0" algn="ctr">
                <a:lnSpc>
                  <a:spcPct val="100000"/>
                </a:lnSpc>
                <a:buNone/>
              </a:pPr>
              <a:r>
                <a:rPr lang="zh-TW" altLang="en-US" sz="1400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觀察       </a:t>
              </a:r>
              <a:r>
                <a:rPr lang="zh-TW" altLang="en-US" sz="1400" u="sng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目標及模擬色差</a:t>
              </a:r>
              <a:r>
                <a:rPr lang="zh-TW" altLang="en-US" sz="1400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及       </a:t>
              </a:r>
              <a:r>
                <a:rPr lang="zh-TW" altLang="en-US" sz="1400" u="sng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色差資訊總結</a:t>
              </a:r>
              <a:r>
                <a:rPr lang="en-US" altLang="zh-TW" sz="1400" u="sng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 (target / final) </a:t>
              </a:r>
              <a:r>
                <a:rPr lang="zh-TW" altLang="en-US" sz="1400" dirty="0">
                  <a:solidFill>
                    <a:schemeClr val="bg2">
                      <a:lumMod val="25000"/>
                    </a:schemeClr>
                  </a:solidFill>
                  <a:latin typeface="微軟正黑體" panose="020B0604030504040204" pitchFamily="34" charset="-120"/>
                  <a:ea typeface="微軟正黑體" panose="020B0604030504040204" pitchFamily="34" charset="-120"/>
                </a:rPr>
                <a:t>的數值</a:t>
              </a:r>
            </a:p>
          </p:txBody>
        </p: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C81DBDB6-CAB2-4525-B0F8-7538C3269DC2}"/>
                </a:ext>
              </a:extLst>
            </p:cNvPr>
            <p:cNvGrpSpPr/>
            <p:nvPr/>
          </p:nvGrpSpPr>
          <p:grpSpPr>
            <a:xfrm>
              <a:off x="3778794" y="3513321"/>
              <a:ext cx="288580" cy="369332"/>
              <a:chOff x="5131835" y="6025118"/>
              <a:chExt cx="288580" cy="369332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8013EFF2-C013-4877-8FCD-91DF94024BC4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28" name="文字方塊 27">
                <a:extLst>
                  <a:ext uri="{FF2B5EF4-FFF2-40B4-BE49-F238E27FC236}">
                    <a16:creationId xmlns:a16="http://schemas.microsoft.com/office/drawing/2014/main" id="{8F94C0BA-29C4-43EC-A5CA-0EFF3CF5217F}"/>
                  </a:ext>
                </a:extLst>
              </p:cNvPr>
              <p:cNvSpPr txBox="1"/>
              <p:nvPr/>
            </p:nvSpPr>
            <p:spPr>
              <a:xfrm>
                <a:off x="5131835" y="6025118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5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29" name="群組 28">
              <a:extLst>
                <a:ext uri="{FF2B5EF4-FFF2-40B4-BE49-F238E27FC236}">
                  <a16:creationId xmlns:a16="http://schemas.microsoft.com/office/drawing/2014/main" id="{7A1C126B-48AA-4F3D-B5A6-572195CEC581}"/>
                </a:ext>
              </a:extLst>
            </p:cNvPr>
            <p:cNvGrpSpPr/>
            <p:nvPr/>
          </p:nvGrpSpPr>
          <p:grpSpPr>
            <a:xfrm>
              <a:off x="5504831" y="3513321"/>
              <a:ext cx="288580" cy="369332"/>
              <a:chOff x="5131835" y="6025118"/>
              <a:chExt cx="288580" cy="369332"/>
            </a:xfrm>
          </p:grpSpPr>
          <p:sp>
            <p:nvSpPr>
              <p:cNvPr id="30" name="橢圓 29">
                <a:extLst>
                  <a:ext uri="{FF2B5EF4-FFF2-40B4-BE49-F238E27FC236}">
                    <a16:creationId xmlns:a16="http://schemas.microsoft.com/office/drawing/2014/main" id="{A4D12409-1F11-47DB-8256-5DA12A9A1622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31" name="文字方塊 30">
                <a:extLst>
                  <a:ext uri="{FF2B5EF4-FFF2-40B4-BE49-F238E27FC236}">
                    <a16:creationId xmlns:a16="http://schemas.microsoft.com/office/drawing/2014/main" id="{A6965EC4-26B8-4476-AB0F-D25829F7699F}"/>
                  </a:ext>
                </a:extLst>
              </p:cNvPr>
              <p:cNvSpPr txBox="1"/>
              <p:nvPr/>
            </p:nvSpPr>
            <p:spPr>
              <a:xfrm>
                <a:off x="5131835" y="6025118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6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0" name="群組 39">
              <a:extLst>
                <a:ext uri="{FF2B5EF4-FFF2-40B4-BE49-F238E27FC236}">
                  <a16:creationId xmlns:a16="http://schemas.microsoft.com/office/drawing/2014/main" id="{A1A02751-69C2-42D8-A206-7C8405F09BF7}"/>
                </a:ext>
              </a:extLst>
            </p:cNvPr>
            <p:cNvGrpSpPr/>
            <p:nvPr/>
          </p:nvGrpSpPr>
          <p:grpSpPr>
            <a:xfrm>
              <a:off x="3050961" y="2880397"/>
              <a:ext cx="288580" cy="369332"/>
              <a:chOff x="3717574" y="5067519"/>
              <a:chExt cx="288580" cy="369332"/>
            </a:xfrm>
          </p:grpSpPr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C9BD1CCE-DEEF-414C-AD3D-7B9C86940CDA}"/>
                  </a:ext>
                </a:extLst>
              </p:cNvPr>
              <p:cNvSpPr/>
              <p:nvPr/>
            </p:nvSpPr>
            <p:spPr>
              <a:xfrm>
                <a:off x="3747692" y="5130140"/>
                <a:ext cx="253072" cy="253072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39" name="文字方塊 38">
                <a:extLst>
                  <a:ext uri="{FF2B5EF4-FFF2-40B4-BE49-F238E27FC236}">
                    <a16:creationId xmlns:a16="http://schemas.microsoft.com/office/drawing/2014/main" id="{AED85095-9EE5-4378-B753-22962B54C9D0}"/>
                  </a:ext>
                </a:extLst>
              </p:cNvPr>
              <p:cNvSpPr txBox="1"/>
              <p:nvPr/>
            </p:nvSpPr>
            <p:spPr>
              <a:xfrm>
                <a:off x="3717574" y="5067519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4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41" name="群組 40">
              <a:extLst>
                <a:ext uri="{FF2B5EF4-FFF2-40B4-BE49-F238E27FC236}">
                  <a16:creationId xmlns:a16="http://schemas.microsoft.com/office/drawing/2014/main" id="{35D84CBF-183C-4C59-8BA7-924780C18D45}"/>
                </a:ext>
              </a:extLst>
            </p:cNvPr>
            <p:cNvGrpSpPr/>
            <p:nvPr/>
          </p:nvGrpSpPr>
          <p:grpSpPr>
            <a:xfrm>
              <a:off x="8855427" y="2880392"/>
              <a:ext cx="288580" cy="369332"/>
              <a:chOff x="5131835" y="6025118"/>
              <a:chExt cx="288580" cy="369332"/>
            </a:xfrm>
          </p:grpSpPr>
          <p:sp>
            <p:nvSpPr>
              <p:cNvPr id="42" name="橢圓 41">
                <a:extLst>
                  <a:ext uri="{FF2B5EF4-FFF2-40B4-BE49-F238E27FC236}">
                    <a16:creationId xmlns:a16="http://schemas.microsoft.com/office/drawing/2014/main" id="{95315E6D-3699-436B-B59F-EFC2867576D7}"/>
                  </a:ext>
                </a:extLst>
              </p:cNvPr>
              <p:cNvSpPr/>
              <p:nvPr/>
            </p:nvSpPr>
            <p:spPr>
              <a:xfrm>
                <a:off x="5153715" y="6086923"/>
                <a:ext cx="253072" cy="253072"/>
              </a:xfrm>
              <a:prstGeom prst="ellipse">
                <a:avLst/>
              </a:prstGeom>
              <a:solidFill>
                <a:srgbClr val="C00000"/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43" name="文字方塊 42">
                <a:extLst>
                  <a:ext uri="{FF2B5EF4-FFF2-40B4-BE49-F238E27FC236}">
                    <a16:creationId xmlns:a16="http://schemas.microsoft.com/office/drawing/2014/main" id="{77122BB2-AB56-4E28-9033-B9B14AF18B28}"/>
                  </a:ext>
                </a:extLst>
              </p:cNvPr>
              <p:cNvSpPr txBox="1"/>
              <p:nvPr/>
            </p:nvSpPr>
            <p:spPr>
              <a:xfrm>
                <a:off x="5131835" y="6025118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3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1" name="群組 50">
              <a:extLst>
                <a:ext uri="{FF2B5EF4-FFF2-40B4-BE49-F238E27FC236}">
                  <a16:creationId xmlns:a16="http://schemas.microsoft.com/office/drawing/2014/main" id="{55867E3E-0CAB-4EB0-B894-F84A05BD6EB5}"/>
                </a:ext>
              </a:extLst>
            </p:cNvPr>
            <p:cNvGrpSpPr/>
            <p:nvPr/>
          </p:nvGrpSpPr>
          <p:grpSpPr>
            <a:xfrm>
              <a:off x="5618212" y="2880397"/>
              <a:ext cx="288580" cy="369332"/>
              <a:chOff x="3717574" y="5067519"/>
              <a:chExt cx="288580" cy="369332"/>
            </a:xfrm>
          </p:grpSpPr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6B4DB2D4-CAA2-4049-BDE0-FB81F1BE2FE7}"/>
                  </a:ext>
                </a:extLst>
              </p:cNvPr>
              <p:cNvSpPr/>
              <p:nvPr/>
            </p:nvSpPr>
            <p:spPr>
              <a:xfrm>
                <a:off x="3747692" y="5130140"/>
                <a:ext cx="253072" cy="253072"/>
              </a:xfrm>
              <a:prstGeom prst="ellipse">
                <a:avLst/>
              </a:prstGeom>
              <a:solidFill>
                <a:schemeClr val="accent6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TW" altLang="en-US"/>
              </a:p>
            </p:txBody>
          </p:sp>
          <p:sp>
            <p:nvSpPr>
              <p:cNvPr id="53" name="文字方塊 52">
                <a:extLst>
                  <a:ext uri="{FF2B5EF4-FFF2-40B4-BE49-F238E27FC236}">
                    <a16:creationId xmlns:a16="http://schemas.microsoft.com/office/drawing/2014/main" id="{FE7EBC60-44FC-47A7-915C-08D32E5550D3}"/>
                  </a:ext>
                </a:extLst>
              </p:cNvPr>
              <p:cNvSpPr txBox="1"/>
              <p:nvPr/>
            </p:nvSpPr>
            <p:spPr>
              <a:xfrm>
                <a:off x="3717574" y="5067519"/>
                <a:ext cx="288580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kumimoji="1" lang="en-US" altLang="zh-TW" dirty="0">
                    <a:solidFill>
                      <a:schemeClr val="bg1"/>
                    </a:solidFill>
                  </a:rPr>
                  <a:t>4</a:t>
                </a:r>
                <a:endParaRPr kumimoji="1" lang="zh-TW" altLang="en-US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66" name="直線單箭頭接點 65">
            <a:extLst>
              <a:ext uri="{FF2B5EF4-FFF2-40B4-BE49-F238E27FC236}">
                <a16:creationId xmlns:a16="http://schemas.microsoft.com/office/drawing/2014/main" id="{8BD827DF-1EB2-47C8-BBBA-6DCA844392D6}"/>
              </a:ext>
            </a:extLst>
          </p:cNvPr>
          <p:cNvCxnSpPr>
            <a:cxnSpLocks/>
          </p:cNvCxnSpPr>
          <p:nvPr/>
        </p:nvCxnSpPr>
        <p:spPr>
          <a:xfrm>
            <a:off x="6038335" y="4760548"/>
            <a:ext cx="0" cy="285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線單箭頭接點 3">
            <a:extLst>
              <a:ext uri="{FF2B5EF4-FFF2-40B4-BE49-F238E27FC236}">
                <a16:creationId xmlns:a16="http://schemas.microsoft.com/office/drawing/2014/main" id="{D51D8E9D-EC81-1ED7-18D2-8F271243C008}"/>
              </a:ext>
            </a:extLst>
          </p:cNvPr>
          <p:cNvCxnSpPr>
            <a:cxnSpLocks/>
          </p:cNvCxnSpPr>
          <p:nvPr/>
        </p:nvCxnSpPr>
        <p:spPr>
          <a:xfrm>
            <a:off x="6038335" y="5607209"/>
            <a:ext cx="0" cy="285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單箭頭接點 4">
            <a:extLst>
              <a:ext uri="{FF2B5EF4-FFF2-40B4-BE49-F238E27FC236}">
                <a16:creationId xmlns:a16="http://schemas.microsoft.com/office/drawing/2014/main" id="{DE138DB2-51BD-B71D-4D1B-7323B8024314}"/>
              </a:ext>
            </a:extLst>
          </p:cNvPr>
          <p:cNvCxnSpPr>
            <a:cxnSpLocks/>
          </p:cNvCxnSpPr>
          <p:nvPr/>
        </p:nvCxnSpPr>
        <p:spPr>
          <a:xfrm>
            <a:off x="6038335" y="3496372"/>
            <a:ext cx="0" cy="285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線單箭頭接點 13">
            <a:extLst>
              <a:ext uri="{FF2B5EF4-FFF2-40B4-BE49-F238E27FC236}">
                <a16:creationId xmlns:a16="http://schemas.microsoft.com/office/drawing/2014/main" id="{6F08734E-4A09-5227-C130-43272A43A952}"/>
              </a:ext>
            </a:extLst>
          </p:cNvPr>
          <p:cNvCxnSpPr>
            <a:cxnSpLocks/>
          </p:cNvCxnSpPr>
          <p:nvPr/>
        </p:nvCxnSpPr>
        <p:spPr>
          <a:xfrm>
            <a:off x="6038335" y="2321913"/>
            <a:ext cx="0" cy="285537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AA13D6C0-96EA-5034-CF58-14348706F590}"/>
              </a:ext>
            </a:extLst>
          </p:cNvPr>
          <p:cNvSpPr txBox="1"/>
          <p:nvPr/>
        </p:nvSpPr>
        <p:spPr>
          <a:xfrm>
            <a:off x="3573715" y="2811030"/>
            <a:ext cx="49477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使用</a:t>
            </a:r>
            <a:r>
              <a:rPr lang="en-US" altLang="zh-TW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excel</a:t>
            </a:r>
            <a:r>
              <a:rPr lang="zh-TW" altLang="en-US" sz="2400" b="1" dirty="0">
                <a:solidFill>
                  <a:srgbClr val="C0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中的規劃求解</a:t>
            </a: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2A96FBFA-AEC6-57CB-4BEA-0DFFFA3F06C5}"/>
              </a:ext>
            </a:extLst>
          </p:cNvPr>
          <p:cNvGrpSpPr/>
          <p:nvPr/>
        </p:nvGrpSpPr>
        <p:grpSpPr>
          <a:xfrm>
            <a:off x="6176583" y="1194468"/>
            <a:ext cx="288580" cy="369332"/>
            <a:chOff x="44795" y="2570234"/>
            <a:chExt cx="288580" cy="369332"/>
          </a:xfrm>
        </p:grpSpPr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B6E96A01-3A6B-D39A-9A5F-C001056F5D27}"/>
                </a:ext>
              </a:extLst>
            </p:cNvPr>
            <p:cNvSpPr/>
            <p:nvPr/>
          </p:nvSpPr>
          <p:spPr>
            <a:xfrm>
              <a:off x="66675" y="2632855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38" name="文字方塊 37">
              <a:extLst>
                <a:ext uri="{FF2B5EF4-FFF2-40B4-BE49-F238E27FC236}">
                  <a16:creationId xmlns:a16="http://schemas.microsoft.com/office/drawing/2014/main" id="{B84232B6-CEB4-772C-BDE3-6FFFBDEDC77E}"/>
                </a:ext>
              </a:extLst>
            </p:cNvPr>
            <p:cNvSpPr txBox="1"/>
            <p:nvPr/>
          </p:nvSpPr>
          <p:spPr>
            <a:xfrm>
              <a:off x="44795" y="2570234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8</a:t>
              </a:r>
              <a:endParaRPr kumimoji="1" lang="zh-TW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2961420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1.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149BAAE-0317-44E1-A466-15C4B2A310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5347" y="1973484"/>
            <a:ext cx="4876801" cy="3496319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2984A5F0-F94B-4AE6-85C9-0A8E3FB36D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53365" y="1973484"/>
            <a:ext cx="6106434" cy="3496319"/>
          </a:xfrm>
          <a:prstGeom prst="rect">
            <a:avLst/>
          </a:prstGeom>
        </p:spPr>
      </p:pic>
      <p:sp>
        <p:nvSpPr>
          <p:cNvPr id="68" name="內容版面配置區 2">
            <a:extLst>
              <a:ext uri="{FF2B5EF4-FFF2-40B4-BE49-F238E27FC236}">
                <a16:creationId xmlns:a16="http://schemas.microsoft.com/office/drawing/2014/main" id="{6AA956B4-2021-4028-A44E-9612D44CB817}"/>
              </a:ext>
            </a:extLst>
          </p:cNvPr>
          <p:cNvSpPr txBox="1">
            <a:spLocks/>
          </p:cNvSpPr>
          <p:nvPr/>
        </p:nvSpPr>
        <p:spPr>
          <a:xfrm>
            <a:off x="567265" y="1421149"/>
            <a:ext cx="10910359" cy="432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放好圖，執行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CCMsimulator_free.exe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，取得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目標及原始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、並貼入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、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原始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endParaRPr lang="zh-TW" altLang="en-US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9" name="內容版面配置區 2">
            <a:extLst>
              <a:ext uri="{FF2B5EF4-FFF2-40B4-BE49-F238E27FC236}">
                <a16:creationId xmlns:a16="http://schemas.microsoft.com/office/drawing/2014/main" id="{0071AEAC-F4D3-4A6B-9782-9FFF918FB886}"/>
              </a:ext>
            </a:extLst>
          </p:cNvPr>
          <p:cNvSpPr txBox="1">
            <a:spLocks/>
          </p:cNvSpPr>
          <p:nvPr/>
        </p:nvSpPr>
        <p:spPr>
          <a:xfrm>
            <a:off x="567265" y="5647437"/>
            <a:ext cx="4984883" cy="8456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若自動偵測不到：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CCT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tool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中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 tuning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窗格取得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24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色卡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91" name="內容版面配置區 2">
            <a:extLst>
              <a:ext uri="{FF2B5EF4-FFF2-40B4-BE49-F238E27FC236}">
                <a16:creationId xmlns:a16="http://schemas.microsoft.com/office/drawing/2014/main" id="{7E5EC986-F3FB-46A3-B65B-5B04C3A5E90B}"/>
              </a:ext>
            </a:extLst>
          </p:cNvPr>
          <p:cNvSpPr txBox="1">
            <a:spLocks/>
          </p:cNvSpPr>
          <p:nvPr/>
        </p:nvSpPr>
        <p:spPr>
          <a:xfrm>
            <a:off x="5552148" y="5647437"/>
            <a:ext cx="6207651" cy="96754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取得對應原始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數值的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</a:p>
          <a:p>
            <a:pPr>
              <a:lnSpc>
                <a:spcPct val="100000"/>
              </a:lnSpc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MTK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平台的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會做特別的編碼處理，請使用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CCMsimulator_MTK.xlsm</a:t>
            </a:r>
          </a:p>
        </p:txBody>
      </p:sp>
    </p:spTree>
    <p:extLst>
      <p:ext uri="{BB962C8B-B14F-4D97-AF65-F5344CB8AC3E}">
        <p14:creationId xmlns:p14="http://schemas.microsoft.com/office/powerpoint/2010/main" val="31779408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>
            <a:extLst>
              <a:ext uri="{FF2B5EF4-FFF2-40B4-BE49-F238E27FC236}">
                <a16:creationId xmlns:a16="http://schemas.microsoft.com/office/drawing/2014/main" id="{274A8BC1-AC5A-2940-A37F-970FA2AD5A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37" y="1534777"/>
            <a:ext cx="4732001" cy="4958132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2.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規劃求解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3F77F2-FDF5-A425-4874-1BE260575A1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131767" cy="44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Microsoft JhengHei Light" panose="020B0604030504040204" pitchFamily="34" charset="-120"/>
              </a:rPr>
              <a:t>填入</a:t>
            </a:r>
            <a:r>
              <a:rPr lang="en-US" altLang="zh-TW" sz="2000" dirty="0">
                <a:ea typeface="Microsoft JhengHei Light" panose="020B0604030504040204" pitchFamily="34" charset="-120"/>
              </a:rPr>
              <a:t>input</a:t>
            </a:r>
            <a:r>
              <a:rPr lang="zh-TW" altLang="en-US" sz="2000" dirty="0">
                <a:ea typeface="Microsoft JhengHei Light" panose="020B0604030504040204" pitchFamily="34" charset="-120"/>
              </a:rPr>
              <a:t> </a:t>
            </a:r>
            <a:r>
              <a:rPr lang="en-US" altLang="zh-TW" sz="2000" dirty="0">
                <a:ea typeface="Microsoft JhengHei Light" panose="020B0604030504040204" pitchFamily="34" charset="-120"/>
              </a:rPr>
              <a:t>data</a:t>
            </a:r>
            <a:r>
              <a:rPr lang="zh-TW" altLang="en-US" sz="2000" dirty="0">
                <a:ea typeface="Microsoft JhengHei Light" panose="020B0604030504040204" pitchFamily="34" charset="-120"/>
              </a:rPr>
              <a:t>後，執行「資料」</a:t>
            </a:r>
            <a:r>
              <a:rPr lang="en-US" altLang="zh-TW" sz="2000" dirty="0">
                <a:ea typeface="Microsoft JhengHei Light" panose="020B0604030504040204" pitchFamily="34" charset="-120"/>
              </a:rPr>
              <a:t>-&gt;</a:t>
            </a:r>
            <a:r>
              <a:rPr lang="zh-TW" altLang="en-US" sz="2000" dirty="0">
                <a:ea typeface="Microsoft JhengHei Light" panose="020B0604030504040204" pitchFamily="34" charset="-120"/>
              </a:rPr>
              <a:t>「規劃求解」</a:t>
            </a:r>
            <a:endParaRPr lang="en-US" altLang="zh-TW" sz="2000" dirty="0">
              <a:ea typeface="Microsoft JhengHei Light" panose="020B0604030504040204" pitchFamily="34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2B33E7B-0BAA-F259-F84E-989EBB23658D}"/>
              </a:ext>
            </a:extLst>
          </p:cNvPr>
          <p:cNvSpPr txBox="1">
            <a:spLocks/>
          </p:cNvSpPr>
          <p:nvPr/>
        </p:nvSpPr>
        <p:spPr>
          <a:xfrm>
            <a:off x="838200" y="2824545"/>
            <a:ext cx="6131767" cy="44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1.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設定目標式：最小值</a:t>
            </a:r>
            <a:endParaRPr lang="en-US" altLang="zh-TW" sz="2000" dirty="0">
              <a:ea typeface="Microsoft JhengHei Light" panose="020B0604030504040204" pitchFamily="34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DD10171-B65E-4F44-5934-78B4D6EE8E1F}"/>
              </a:ext>
            </a:extLst>
          </p:cNvPr>
          <p:cNvSpPr txBox="1">
            <a:spLocks/>
          </p:cNvSpPr>
          <p:nvPr/>
        </p:nvSpPr>
        <p:spPr>
          <a:xfrm>
            <a:off x="838200" y="3331883"/>
            <a:ext cx="6131767" cy="39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2.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設定變數儲存格範圍，維持預設即可</a:t>
            </a:r>
            <a:endParaRPr lang="en-US" altLang="zh-TW" sz="2000" b="1" dirty="0">
              <a:ea typeface="Microsoft JhengHei Light" panose="020B0604030504040204" pitchFamily="34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6876C3BD-F1EA-E1A1-D09F-37E8F3EBEBD0}"/>
              </a:ext>
            </a:extLst>
          </p:cNvPr>
          <p:cNvSpPr txBox="1">
            <a:spLocks/>
          </p:cNvSpPr>
          <p:nvPr/>
        </p:nvSpPr>
        <p:spPr>
          <a:xfrm>
            <a:off x="838200" y="3789544"/>
            <a:ext cx="3525322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3.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不打勾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94F7CC6F-1ECC-7581-343A-3E70197F032C}"/>
              </a:ext>
            </a:extLst>
          </p:cNvPr>
          <p:cNvSpPr txBox="1">
            <a:spLocks/>
          </p:cNvSpPr>
          <p:nvPr/>
        </p:nvSpPr>
        <p:spPr>
          <a:xfrm>
            <a:off x="838200" y="4260761"/>
            <a:ext cx="3525322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4.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求解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FACF833-78A5-97ED-FD55-659E05DBD1DB}"/>
              </a:ext>
            </a:extLst>
          </p:cNvPr>
          <p:cNvSpPr txBox="1">
            <a:spLocks/>
          </p:cNvSpPr>
          <p:nvPr/>
        </p:nvSpPr>
        <p:spPr>
          <a:xfrm>
            <a:off x="838200" y="2309950"/>
            <a:ext cx="3289183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0. gain adjust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歸</a:t>
            </a:r>
            <a:r>
              <a:rPr lang="en-US" altLang="zh-TW" sz="2000" b="1" dirty="0">
                <a:ea typeface="Microsoft JhengHei Light" panose="020B0604030504040204" pitchFamily="34" charset="-120"/>
              </a:rPr>
              <a:t>1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F01B0EA-2586-BDFC-DF08-63ACB6B428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6" b="2357"/>
          <a:stretch/>
        </p:blipFill>
        <p:spPr>
          <a:xfrm>
            <a:off x="4739778" y="314791"/>
            <a:ext cx="7116661" cy="107706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C026A40-34E9-E76B-DB98-504097B15B59}"/>
              </a:ext>
            </a:extLst>
          </p:cNvPr>
          <p:cNvSpPr/>
          <p:nvPr/>
        </p:nvSpPr>
        <p:spPr>
          <a:xfrm>
            <a:off x="10812208" y="555756"/>
            <a:ext cx="819597" cy="2807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CF492A7-17ED-0E25-A9FD-6CCACD9E17F8}"/>
              </a:ext>
            </a:extLst>
          </p:cNvPr>
          <p:cNvSpPr/>
          <p:nvPr/>
        </p:nvSpPr>
        <p:spPr>
          <a:xfrm>
            <a:off x="8085282" y="1967684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C634FB6-8FCA-4948-9326-6E3FE56546D5}"/>
              </a:ext>
            </a:extLst>
          </p:cNvPr>
          <p:cNvSpPr/>
          <p:nvPr/>
        </p:nvSpPr>
        <p:spPr>
          <a:xfrm>
            <a:off x="8085282" y="1968275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2D00870-E14B-9581-9C6A-E9963C71364D}"/>
              </a:ext>
            </a:extLst>
          </p:cNvPr>
          <p:cNvSpPr/>
          <p:nvPr/>
        </p:nvSpPr>
        <p:spPr>
          <a:xfrm>
            <a:off x="8510477" y="2537189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2</a:t>
            </a:r>
            <a:endParaRPr lang="zh-TW" altLang="en-US" sz="1400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BF5584B-562A-1AC3-1016-5B57DC98D4B3}"/>
              </a:ext>
            </a:extLst>
          </p:cNvPr>
          <p:cNvSpPr/>
          <p:nvPr/>
        </p:nvSpPr>
        <p:spPr>
          <a:xfrm>
            <a:off x="8085282" y="3030812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11B2035-51E9-C4E6-B4C7-7B0E297A741C}"/>
              </a:ext>
            </a:extLst>
          </p:cNvPr>
          <p:cNvSpPr/>
          <p:nvPr/>
        </p:nvSpPr>
        <p:spPr>
          <a:xfrm>
            <a:off x="8908801" y="4672003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4</a:t>
            </a:r>
            <a:endParaRPr lang="zh-TW" altLang="en-US" sz="1400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BEB5DE7-9D03-8E7E-819B-F16BFEBC694D}"/>
              </a:ext>
            </a:extLst>
          </p:cNvPr>
          <p:cNvSpPr/>
          <p:nvPr/>
        </p:nvSpPr>
        <p:spPr>
          <a:xfrm>
            <a:off x="10452375" y="6171397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5</a:t>
            </a:r>
            <a:endParaRPr lang="zh-TW" altLang="en-US" sz="14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913523F8-86BB-28BE-5AC5-F810065D24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1622" y="2355497"/>
            <a:ext cx="2505075" cy="400050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E0228A16-3D17-F5D4-B44D-9F4BD9CFFC2B}"/>
              </a:ext>
            </a:extLst>
          </p:cNvPr>
          <p:cNvSpPr/>
          <p:nvPr/>
        </p:nvSpPr>
        <p:spPr>
          <a:xfrm>
            <a:off x="3691257" y="2449109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0</a:t>
            </a:r>
            <a:endParaRPr lang="zh-TW" altLang="en-US" sz="1400" dirty="0"/>
          </a:p>
        </p:txBody>
      </p:sp>
      <p:sp>
        <p:nvSpPr>
          <p:cNvPr id="23" name="內容版面配置區 2">
            <a:extLst>
              <a:ext uri="{FF2B5EF4-FFF2-40B4-BE49-F238E27FC236}">
                <a16:creationId xmlns:a16="http://schemas.microsoft.com/office/drawing/2014/main" id="{36A7FDED-CF79-23F7-D345-34A979E81946}"/>
              </a:ext>
            </a:extLst>
          </p:cNvPr>
          <p:cNvSpPr txBox="1">
            <a:spLocks/>
          </p:cNvSpPr>
          <p:nvPr/>
        </p:nvSpPr>
        <p:spPr>
          <a:xfrm>
            <a:off x="575654" y="1104928"/>
            <a:ext cx="3560117" cy="31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rgbClr val="C00000"/>
                </a:solidFill>
                <a:ea typeface="Microsoft JhengHei Light" panose="020B0604030504040204" pitchFamily="34" charset="-120"/>
              </a:rPr>
              <a:t>先針對灰區，跑一組假設</a:t>
            </a:r>
            <a:r>
              <a:rPr lang="en-US" altLang="zh-TW" sz="1400" dirty="0">
                <a:solidFill>
                  <a:srgbClr val="C00000"/>
                </a:solidFill>
                <a:ea typeface="Microsoft JhengHei Light" panose="020B0604030504040204" pitchFamily="34" charset="-120"/>
              </a:rPr>
              <a:t>AWB</a:t>
            </a:r>
            <a:r>
              <a:rPr lang="zh-TW" altLang="en-US" sz="1400" dirty="0">
                <a:solidFill>
                  <a:srgbClr val="C00000"/>
                </a:solidFill>
                <a:ea typeface="Microsoft JhengHei Light" panose="020B0604030504040204" pitchFamily="34" charset="-120"/>
              </a:rPr>
              <a:t>做完的情況</a:t>
            </a:r>
            <a:endParaRPr lang="en-US" altLang="zh-TW" sz="1400" dirty="0">
              <a:solidFill>
                <a:srgbClr val="C00000"/>
              </a:solidFill>
              <a:ea typeface="Microsoft JhengHei Light" panose="020B0604030504040204" pitchFamily="34" charset="-120"/>
            </a:endParaRPr>
          </a:p>
        </p:txBody>
      </p:sp>
      <p:sp>
        <p:nvSpPr>
          <p:cNvPr id="29" name="橢圓 28">
            <a:extLst>
              <a:ext uri="{FF2B5EF4-FFF2-40B4-BE49-F238E27FC236}">
                <a16:creationId xmlns:a16="http://schemas.microsoft.com/office/drawing/2014/main" id="{6EEF255E-8D3B-04B1-3D98-789A502C0ABF}"/>
              </a:ext>
            </a:extLst>
          </p:cNvPr>
          <p:cNvSpPr/>
          <p:nvPr/>
        </p:nvSpPr>
        <p:spPr>
          <a:xfrm>
            <a:off x="6250284" y="2449109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18619867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2.</a:t>
            </a:r>
            <a:r>
              <a:rPr lang="zh-TW" altLang="en-US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規劃求解</a:t>
            </a:r>
            <a:endParaRPr lang="en-US" altLang="zh-TW" sz="28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8BE53F8A-015E-CCB8-5764-A9D68E72AD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24439" y="1534343"/>
            <a:ext cx="4732000" cy="4958532"/>
          </a:xfrm>
          <a:prstGeom prst="rect">
            <a:avLst/>
          </a:prstGeom>
        </p:spPr>
      </p:pic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4C3F77F2-FDF5-A425-4874-1BE260575A17}"/>
              </a:ext>
            </a:extLst>
          </p:cNvPr>
          <p:cNvSpPr txBox="1">
            <a:spLocks/>
          </p:cNvSpPr>
          <p:nvPr/>
        </p:nvSpPr>
        <p:spPr>
          <a:xfrm>
            <a:off x="838200" y="1825625"/>
            <a:ext cx="6131767" cy="44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zh-TW" altLang="en-US" sz="2000" dirty="0">
                <a:ea typeface="Microsoft JhengHei Light" panose="020B0604030504040204" pitchFamily="34" charset="-120"/>
              </a:rPr>
              <a:t>填入</a:t>
            </a:r>
            <a:r>
              <a:rPr lang="en-US" altLang="zh-TW" sz="2000" dirty="0">
                <a:ea typeface="Microsoft JhengHei Light" panose="020B0604030504040204" pitchFamily="34" charset="-120"/>
              </a:rPr>
              <a:t>input</a:t>
            </a:r>
            <a:r>
              <a:rPr lang="zh-TW" altLang="en-US" sz="2000" dirty="0">
                <a:ea typeface="Microsoft JhengHei Light" panose="020B0604030504040204" pitchFamily="34" charset="-120"/>
              </a:rPr>
              <a:t> </a:t>
            </a:r>
            <a:r>
              <a:rPr lang="en-US" altLang="zh-TW" sz="2000" dirty="0">
                <a:ea typeface="Microsoft JhengHei Light" panose="020B0604030504040204" pitchFamily="34" charset="-120"/>
              </a:rPr>
              <a:t>data</a:t>
            </a:r>
            <a:r>
              <a:rPr lang="zh-TW" altLang="en-US" sz="2000" dirty="0">
                <a:ea typeface="Microsoft JhengHei Light" panose="020B0604030504040204" pitchFamily="34" charset="-120"/>
              </a:rPr>
              <a:t>後，執行「資料」</a:t>
            </a:r>
            <a:r>
              <a:rPr lang="en-US" altLang="zh-TW" sz="2000" dirty="0">
                <a:ea typeface="Microsoft JhengHei Light" panose="020B0604030504040204" pitchFamily="34" charset="-120"/>
              </a:rPr>
              <a:t>-&gt;</a:t>
            </a:r>
            <a:r>
              <a:rPr lang="zh-TW" altLang="en-US" sz="2000" dirty="0">
                <a:ea typeface="Microsoft JhengHei Light" panose="020B0604030504040204" pitchFamily="34" charset="-120"/>
              </a:rPr>
              <a:t>「規劃求解」</a:t>
            </a:r>
            <a:endParaRPr lang="en-US" altLang="zh-TW" sz="2000" dirty="0">
              <a:ea typeface="Microsoft JhengHei Light" panose="020B0604030504040204" pitchFamily="34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C2B33E7B-0BAA-F259-F84E-989EBB23658D}"/>
              </a:ext>
            </a:extLst>
          </p:cNvPr>
          <p:cNvSpPr txBox="1">
            <a:spLocks/>
          </p:cNvSpPr>
          <p:nvPr/>
        </p:nvSpPr>
        <p:spPr>
          <a:xfrm>
            <a:off x="838200" y="2824545"/>
            <a:ext cx="6131767" cy="44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1.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設定目標式：最小值</a:t>
            </a:r>
            <a:endParaRPr lang="en-US" altLang="zh-TW" sz="2000" dirty="0">
              <a:ea typeface="Microsoft JhengHei Light" panose="020B0604030504040204" pitchFamily="34" charset="-120"/>
            </a:endParaRPr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DD10171-B65E-4F44-5934-78B4D6EE8E1F}"/>
              </a:ext>
            </a:extLst>
          </p:cNvPr>
          <p:cNvSpPr txBox="1">
            <a:spLocks/>
          </p:cNvSpPr>
          <p:nvPr/>
        </p:nvSpPr>
        <p:spPr>
          <a:xfrm>
            <a:off x="838200" y="3331883"/>
            <a:ext cx="6131767" cy="39693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2.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設定變數儲存格範圍，維持預設即可</a:t>
            </a:r>
            <a:endParaRPr lang="en-US" altLang="zh-TW" sz="2000" b="1" dirty="0">
              <a:ea typeface="Microsoft JhengHei Light" panose="020B0604030504040204" pitchFamily="34" charset="-120"/>
            </a:endParaRP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E0019345-7654-E2AA-F389-84CBF1AE3EA5}"/>
              </a:ext>
            </a:extLst>
          </p:cNvPr>
          <p:cNvSpPr txBox="1">
            <a:spLocks/>
          </p:cNvSpPr>
          <p:nvPr/>
        </p:nvSpPr>
        <p:spPr>
          <a:xfrm>
            <a:off x="838200" y="3871304"/>
            <a:ext cx="6359554" cy="447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3.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設定限制式：三行分別加總為</a:t>
            </a:r>
            <a:r>
              <a:rPr lang="en-US" altLang="zh-TW" sz="2000" b="1" dirty="0">
                <a:ea typeface="Microsoft JhengHei Light" panose="020B0604030504040204" pitchFamily="34" charset="-120"/>
              </a:rPr>
              <a:t>1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，</a:t>
            </a:r>
            <a:r>
              <a:rPr lang="en-US" altLang="zh-TW" sz="2000" b="1" dirty="0">
                <a:ea typeface="Microsoft JhengHei Light" panose="020B0604030504040204" pitchFamily="34" charset="-120"/>
              </a:rPr>
              <a:t>AWB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不受影響</a:t>
            </a:r>
            <a:endParaRPr lang="en-US" altLang="zh-TW" sz="2000" b="1" dirty="0">
              <a:ea typeface="Microsoft JhengHei Light" panose="020B0604030504040204" pitchFamily="34" charset="-120"/>
            </a:endParaRPr>
          </a:p>
        </p:txBody>
      </p:sp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6876C3BD-F1EA-E1A1-D09F-37E8F3EBEBD0}"/>
              </a:ext>
            </a:extLst>
          </p:cNvPr>
          <p:cNvSpPr txBox="1">
            <a:spLocks/>
          </p:cNvSpPr>
          <p:nvPr/>
        </p:nvSpPr>
        <p:spPr>
          <a:xfrm>
            <a:off x="838200" y="4351382"/>
            <a:ext cx="3525322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4.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不打勾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sp>
        <p:nvSpPr>
          <p:cNvPr id="12" name="內容版面配置區 2">
            <a:extLst>
              <a:ext uri="{FF2B5EF4-FFF2-40B4-BE49-F238E27FC236}">
                <a16:creationId xmlns:a16="http://schemas.microsoft.com/office/drawing/2014/main" id="{94F7CC6F-1ECC-7581-343A-3E70197F032C}"/>
              </a:ext>
            </a:extLst>
          </p:cNvPr>
          <p:cNvSpPr txBox="1">
            <a:spLocks/>
          </p:cNvSpPr>
          <p:nvPr/>
        </p:nvSpPr>
        <p:spPr>
          <a:xfrm>
            <a:off x="838200" y="4822599"/>
            <a:ext cx="3525322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5. 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求解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sp>
        <p:nvSpPr>
          <p:cNvPr id="13" name="內容版面配置區 2">
            <a:extLst>
              <a:ext uri="{FF2B5EF4-FFF2-40B4-BE49-F238E27FC236}">
                <a16:creationId xmlns:a16="http://schemas.microsoft.com/office/drawing/2014/main" id="{9FACF833-78A5-97ED-FD55-659E05DBD1DB}"/>
              </a:ext>
            </a:extLst>
          </p:cNvPr>
          <p:cNvSpPr txBox="1">
            <a:spLocks/>
          </p:cNvSpPr>
          <p:nvPr/>
        </p:nvSpPr>
        <p:spPr>
          <a:xfrm>
            <a:off x="838200" y="2309950"/>
            <a:ext cx="3289183" cy="4190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2000" b="1" dirty="0">
                <a:ea typeface="Microsoft JhengHei Light" panose="020B0604030504040204" pitchFamily="34" charset="-120"/>
              </a:rPr>
              <a:t>0. Modify value</a:t>
            </a:r>
            <a:r>
              <a:rPr lang="zh-TW" altLang="en-US" sz="2000" b="1" dirty="0">
                <a:ea typeface="Microsoft JhengHei Light" panose="020B0604030504040204" pitchFamily="34" charset="-120"/>
              </a:rPr>
              <a:t>歸零</a:t>
            </a:r>
            <a:endParaRPr lang="en-US" altLang="zh-TW" sz="1600" dirty="0">
              <a:ea typeface="Microsoft JhengHei Light" panose="020B0604030504040204" pitchFamily="34" charset="-12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6F01B0EA-2586-BDFC-DF08-63ACB6B428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296" b="2357"/>
          <a:stretch/>
        </p:blipFill>
        <p:spPr>
          <a:xfrm>
            <a:off x="4739778" y="314791"/>
            <a:ext cx="7116661" cy="1077062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8C026A40-34E9-E76B-DB98-504097B15B59}"/>
              </a:ext>
            </a:extLst>
          </p:cNvPr>
          <p:cNvSpPr/>
          <p:nvPr/>
        </p:nvSpPr>
        <p:spPr>
          <a:xfrm>
            <a:off x="10812208" y="555756"/>
            <a:ext cx="819597" cy="280788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17" name="圖片 16">
            <a:extLst>
              <a:ext uri="{FF2B5EF4-FFF2-40B4-BE49-F238E27FC236}">
                <a16:creationId xmlns:a16="http://schemas.microsoft.com/office/drawing/2014/main" id="{531E5507-802B-8CE0-A502-3337B6EF20D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50000"/>
          <a:stretch/>
        </p:blipFill>
        <p:spPr>
          <a:xfrm>
            <a:off x="3967643" y="2366429"/>
            <a:ext cx="2532883" cy="724992"/>
          </a:xfrm>
          <a:prstGeom prst="rect">
            <a:avLst/>
          </a:prstGeom>
        </p:spPr>
      </p:pic>
      <p:sp>
        <p:nvSpPr>
          <p:cNvPr id="18" name="橢圓 17">
            <a:extLst>
              <a:ext uri="{FF2B5EF4-FFF2-40B4-BE49-F238E27FC236}">
                <a16:creationId xmlns:a16="http://schemas.microsoft.com/office/drawing/2014/main" id="{E0228A16-3D17-F5D4-B44D-9F4BD9CFFC2B}"/>
              </a:ext>
            </a:extLst>
          </p:cNvPr>
          <p:cNvSpPr/>
          <p:nvPr/>
        </p:nvSpPr>
        <p:spPr>
          <a:xfrm>
            <a:off x="6416007" y="2817288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0</a:t>
            </a:r>
            <a:endParaRPr lang="zh-TW" altLang="en-US" sz="1400" dirty="0"/>
          </a:p>
        </p:txBody>
      </p:sp>
      <p:pic>
        <p:nvPicPr>
          <p:cNvPr id="20" name="圖片 19">
            <a:extLst>
              <a:ext uri="{FF2B5EF4-FFF2-40B4-BE49-F238E27FC236}">
                <a16:creationId xmlns:a16="http://schemas.microsoft.com/office/drawing/2014/main" id="{94AD6164-A9D7-6857-D1A4-E96CE15130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02593" y="4947163"/>
            <a:ext cx="3333750" cy="1543050"/>
          </a:xfrm>
          <a:prstGeom prst="rect">
            <a:avLst/>
          </a:prstGeom>
        </p:spPr>
      </p:pic>
      <p:sp>
        <p:nvSpPr>
          <p:cNvPr id="21" name="橢圓 20">
            <a:extLst>
              <a:ext uri="{FF2B5EF4-FFF2-40B4-BE49-F238E27FC236}">
                <a16:creationId xmlns:a16="http://schemas.microsoft.com/office/drawing/2014/main" id="{933CD3BF-E37D-FB37-C2E9-5F0026FA520E}"/>
              </a:ext>
            </a:extLst>
          </p:cNvPr>
          <p:cNvSpPr/>
          <p:nvPr/>
        </p:nvSpPr>
        <p:spPr>
          <a:xfrm>
            <a:off x="6663810" y="5241637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DCF492A7-17ED-0E25-A9FD-6CCACD9E17F8}"/>
              </a:ext>
            </a:extLst>
          </p:cNvPr>
          <p:cNvSpPr/>
          <p:nvPr/>
        </p:nvSpPr>
        <p:spPr>
          <a:xfrm>
            <a:off x="8085282" y="1967684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8C634FB6-8FCA-4948-9326-6E3FE56546D5}"/>
              </a:ext>
            </a:extLst>
          </p:cNvPr>
          <p:cNvSpPr/>
          <p:nvPr/>
        </p:nvSpPr>
        <p:spPr>
          <a:xfrm>
            <a:off x="8085282" y="1968275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1</a:t>
            </a:r>
            <a:endParaRPr lang="zh-TW" altLang="en-US" sz="1400" dirty="0"/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D2D00870-E14B-9581-9C6A-E9963C71364D}"/>
              </a:ext>
            </a:extLst>
          </p:cNvPr>
          <p:cNvSpPr/>
          <p:nvPr/>
        </p:nvSpPr>
        <p:spPr>
          <a:xfrm>
            <a:off x="8510477" y="2537189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2</a:t>
            </a:r>
            <a:endParaRPr lang="zh-TW" altLang="en-US" sz="1400" dirty="0"/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7BF5584B-562A-1AC3-1016-5B57DC98D4B3}"/>
              </a:ext>
            </a:extLst>
          </p:cNvPr>
          <p:cNvSpPr/>
          <p:nvPr/>
        </p:nvSpPr>
        <p:spPr>
          <a:xfrm>
            <a:off x="8085282" y="3030812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3</a:t>
            </a:r>
            <a:endParaRPr lang="zh-TW" altLang="en-US" sz="1400" dirty="0"/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F11B2035-51E9-C4E6-B4C7-7B0E297A741C}"/>
              </a:ext>
            </a:extLst>
          </p:cNvPr>
          <p:cNvSpPr/>
          <p:nvPr/>
        </p:nvSpPr>
        <p:spPr>
          <a:xfrm>
            <a:off x="8908801" y="4672003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4</a:t>
            </a:r>
            <a:endParaRPr lang="zh-TW" altLang="en-US" sz="1400" dirty="0"/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EBEB5DE7-9D03-8E7E-819B-F16BFEBC694D}"/>
              </a:ext>
            </a:extLst>
          </p:cNvPr>
          <p:cNvSpPr/>
          <p:nvPr/>
        </p:nvSpPr>
        <p:spPr>
          <a:xfrm>
            <a:off x="10452375" y="6171397"/>
            <a:ext cx="212826" cy="212826"/>
          </a:xfrm>
          <a:prstGeom prst="ellipse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1400" dirty="0"/>
              <a:t>5</a:t>
            </a:r>
            <a:endParaRPr lang="zh-TW" altLang="en-US" sz="1400" dirty="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6460FBA9-2A45-B3D4-F009-0F78F94C56A1}"/>
              </a:ext>
            </a:extLst>
          </p:cNvPr>
          <p:cNvSpPr txBox="1">
            <a:spLocks/>
          </p:cNvSpPr>
          <p:nvPr/>
        </p:nvSpPr>
        <p:spPr>
          <a:xfrm>
            <a:off x="575654" y="1104928"/>
            <a:ext cx="3560117" cy="3190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solidFill>
                  <a:srgbClr val="C00000"/>
                </a:solidFill>
                <a:ea typeface="Microsoft JhengHei Light" panose="020B0604030504040204" pitchFamily="34" charset="-120"/>
              </a:rPr>
              <a:t>CCM</a:t>
            </a:r>
            <a:r>
              <a:rPr lang="zh-TW" altLang="en-US" sz="1400" dirty="0">
                <a:solidFill>
                  <a:srgbClr val="C00000"/>
                </a:solidFill>
                <a:ea typeface="Microsoft JhengHei Light" panose="020B0604030504040204" pitchFamily="34" charset="-120"/>
              </a:rPr>
              <a:t>求解</a:t>
            </a:r>
            <a:endParaRPr lang="en-US" altLang="zh-TW" sz="1400" dirty="0">
              <a:solidFill>
                <a:srgbClr val="C00000"/>
              </a:solidFill>
              <a:ea typeface="Microsoft JhengHei Light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06791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3.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6BDD3436-A567-4493-9EC4-3C290A68DB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41" r="42974" b="77113"/>
          <a:stretch/>
        </p:blipFill>
        <p:spPr>
          <a:xfrm>
            <a:off x="9198397" y="1337848"/>
            <a:ext cx="2557684" cy="1320413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D58E3C9D-D842-4066-8987-BBF940CDE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41" t="29531" r="41790"/>
          <a:stretch/>
        </p:blipFill>
        <p:spPr>
          <a:xfrm>
            <a:off x="9202115" y="2733430"/>
            <a:ext cx="2557684" cy="3782044"/>
          </a:xfrm>
          <a:prstGeom prst="rect">
            <a:avLst/>
          </a:prstGeom>
        </p:spPr>
      </p:pic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6C57FC87-924C-466F-A922-78DCD81841FA}"/>
              </a:ext>
            </a:extLst>
          </p:cNvPr>
          <p:cNvSpPr txBox="1">
            <a:spLocks/>
          </p:cNvSpPr>
          <p:nvPr/>
        </p:nvSpPr>
        <p:spPr>
          <a:xfrm>
            <a:off x="567265" y="1421149"/>
            <a:ext cx="10910359" cy="753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目標及原始色差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及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色差資訊總結 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(target / original)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的數值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差距最大的顏色、            大於平均值的顏色、            差距最小的顏色</a:t>
            </a:r>
            <a:endParaRPr lang="en-US" altLang="zh-TW" sz="1400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C0D53344-3B0C-4849-A64B-1E2F5575CEEF}"/>
              </a:ext>
            </a:extLst>
          </p:cNvPr>
          <p:cNvSpPr/>
          <p:nvPr/>
        </p:nvSpPr>
        <p:spPr>
          <a:xfrm>
            <a:off x="2638110" y="1893717"/>
            <a:ext cx="453073" cy="1565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201C9D-5422-42C3-AD6D-F9D7A67CA26E}"/>
              </a:ext>
            </a:extLst>
          </p:cNvPr>
          <p:cNvSpPr/>
          <p:nvPr/>
        </p:nvSpPr>
        <p:spPr>
          <a:xfrm>
            <a:off x="684133" y="1893717"/>
            <a:ext cx="453073" cy="156524"/>
          </a:xfrm>
          <a:prstGeom prst="rect">
            <a:avLst/>
          </a:prstGeom>
          <a:solidFill>
            <a:srgbClr val="FF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AC241CA0-4E78-4021-982D-F0FEC4083F74}"/>
              </a:ext>
            </a:extLst>
          </p:cNvPr>
          <p:cNvSpPr/>
          <p:nvPr/>
        </p:nvSpPr>
        <p:spPr>
          <a:xfrm>
            <a:off x="4763472" y="1893717"/>
            <a:ext cx="453073" cy="1565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內容版面配置區 2">
            <a:extLst>
              <a:ext uri="{FF2B5EF4-FFF2-40B4-BE49-F238E27FC236}">
                <a16:creationId xmlns:a16="http://schemas.microsoft.com/office/drawing/2014/main" id="{8A78025D-4B20-4139-AD63-11224A24A46F}"/>
              </a:ext>
            </a:extLst>
          </p:cNvPr>
          <p:cNvSpPr txBox="1">
            <a:spLocks/>
          </p:cNvSpPr>
          <p:nvPr/>
        </p:nvSpPr>
        <p:spPr>
          <a:xfrm>
            <a:off x="567266" y="2307518"/>
            <a:ext cx="8420216" cy="21110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開始調整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前先做以下兩點確認，建議達成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criteria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再繼續：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a.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Lightness error abs avg &lt; 3~5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b. Contrast ratio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 100 ±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0~5%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c. 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最後一排灰區的</a:t>
            </a:r>
            <a:r>
              <a:rPr lang="el-GR" altLang="zh-TW" sz="1400" dirty="0">
                <a:solidFill>
                  <a:schemeClr val="bg1">
                    <a:lumMod val="50000"/>
                  </a:schemeClr>
                </a:solidFill>
              </a:rPr>
              <a:t>Δ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</a:rPr>
              <a:t>hue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</a:rPr>
              <a:t>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因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調整必須在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固定的情況下考量，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在專案後期不建議大幅度調整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&lt;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註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&gt;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灰區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角由</a:t>
            </a:r>
            <a:r>
              <a:rPr lang="en-US" altLang="zh-TW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triangle gain</a:t>
            </a:r>
            <a:r>
              <a:rPr lang="zh-TW" altLang="en-US" sz="1400" dirty="0">
                <a:solidFill>
                  <a:schemeClr val="bg1">
                    <a:lumMod val="50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控制，目前不確定先調後調是否有很大差異</a:t>
            </a:r>
            <a:endParaRPr lang="en-US" altLang="zh-TW" sz="1400" dirty="0">
              <a:solidFill>
                <a:schemeClr val="bg1">
                  <a:lumMod val="50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50" name="內容版面配置區 2">
            <a:extLst>
              <a:ext uri="{FF2B5EF4-FFF2-40B4-BE49-F238E27FC236}">
                <a16:creationId xmlns:a16="http://schemas.microsoft.com/office/drawing/2014/main" id="{2C35BA34-83D2-4B31-B7DA-EBACA9A497AF}"/>
              </a:ext>
            </a:extLst>
          </p:cNvPr>
          <p:cNvSpPr txBox="1">
            <a:spLocks/>
          </p:cNvSpPr>
          <p:nvPr/>
        </p:nvSpPr>
        <p:spPr>
          <a:xfrm>
            <a:off x="567266" y="4543118"/>
            <a:ext cx="8420216" cy="1787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以下幾種情況，可嘗試調整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予以解決：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a. Mean Camera chroma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/>
              <a:t>≠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 ±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0~5%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b. Chroma error abs avg &gt;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c. Hue error abs avg &gt; 3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d.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某些色系的</a:t>
            </a:r>
            <a:r>
              <a:rPr lang="el-GR" altLang="zh-TW" sz="1400" dirty="0"/>
              <a:t>Δ</a:t>
            </a:r>
            <a:r>
              <a:rPr lang="en-US" altLang="zh-TW" sz="1400" dirty="0"/>
              <a:t>hue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偏大（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比例偏差可能會去影響到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2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種以上的色系，正負方向）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6549879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圖片 31">
            <a:extLst>
              <a:ext uri="{FF2B5EF4-FFF2-40B4-BE49-F238E27FC236}">
                <a16:creationId xmlns:a16="http://schemas.microsoft.com/office/drawing/2014/main" id="{BB8A0709-6015-4CE6-9928-EA227037640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35986" r="71604" b="61404"/>
          <a:stretch/>
        </p:blipFill>
        <p:spPr>
          <a:xfrm>
            <a:off x="5112432" y="3089191"/>
            <a:ext cx="4209535" cy="140042"/>
          </a:xfrm>
          <a:prstGeom prst="rect">
            <a:avLst/>
          </a:prstGeom>
        </p:spPr>
      </p:pic>
      <p:pic>
        <p:nvPicPr>
          <p:cNvPr id="33" name="圖片 32">
            <a:extLst>
              <a:ext uri="{FF2B5EF4-FFF2-40B4-BE49-F238E27FC236}">
                <a16:creationId xmlns:a16="http://schemas.microsoft.com/office/drawing/2014/main" id="{924EBA5B-EA9F-4525-A40C-10B6C1379E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49497" r="71604" b="47817"/>
          <a:stretch/>
        </p:blipFill>
        <p:spPr>
          <a:xfrm>
            <a:off x="5112432" y="3805883"/>
            <a:ext cx="4209535" cy="144162"/>
          </a:xfrm>
          <a:prstGeom prst="rect">
            <a:avLst/>
          </a:prstGeom>
        </p:spPr>
      </p:pic>
      <p:pic>
        <p:nvPicPr>
          <p:cNvPr id="38" name="圖片 37">
            <a:extLst>
              <a:ext uri="{FF2B5EF4-FFF2-40B4-BE49-F238E27FC236}">
                <a16:creationId xmlns:a16="http://schemas.microsoft.com/office/drawing/2014/main" id="{8BF63D68-0CA8-4B4A-BC60-825B45A07FF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55042" r="71604" b="42369"/>
          <a:stretch/>
        </p:blipFill>
        <p:spPr>
          <a:xfrm>
            <a:off x="5112431" y="4103475"/>
            <a:ext cx="4209535" cy="139013"/>
          </a:xfrm>
          <a:prstGeom prst="rect">
            <a:avLst/>
          </a:prstGeom>
        </p:spPr>
      </p:pic>
      <p:pic>
        <p:nvPicPr>
          <p:cNvPr id="40" name="圖片 39">
            <a:extLst>
              <a:ext uri="{FF2B5EF4-FFF2-40B4-BE49-F238E27FC236}">
                <a16:creationId xmlns:a16="http://schemas.microsoft.com/office/drawing/2014/main" id="{E64B4BF0-E3BD-4B58-AF72-90867EB436D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63047" r="71604" b="34192"/>
          <a:stretch/>
        </p:blipFill>
        <p:spPr>
          <a:xfrm>
            <a:off x="5112431" y="4529676"/>
            <a:ext cx="4209535" cy="148282"/>
          </a:xfrm>
          <a:prstGeom prst="rect">
            <a:avLst/>
          </a:prstGeom>
        </p:spPr>
      </p:pic>
      <p:pic>
        <p:nvPicPr>
          <p:cNvPr id="44" name="圖片 43">
            <a:extLst>
              <a:ext uri="{FF2B5EF4-FFF2-40B4-BE49-F238E27FC236}">
                <a16:creationId xmlns:a16="http://schemas.microsoft.com/office/drawing/2014/main" id="{ADB179DD-019F-410B-BFFC-0541FFA9B4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71288" r="71604" b="26104"/>
          <a:stretch/>
        </p:blipFill>
        <p:spPr>
          <a:xfrm>
            <a:off x="5108712" y="4975656"/>
            <a:ext cx="4209535" cy="140043"/>
          </a:xfrm>
          <a:prstGeom prst="rect">
            <a:avLst/>
          </a:prstGeom>
        </p:spPr>
      </p:pic>
      <p:pic>
        <p:nvPicPr>
          <p:cNvPr id="46" name="圖片 45">
            <a:extLst>
              <a:ext uri="{FF2B5EF4-FFF2-40B4-BE49-F238E27FC236}">
                <a16:creationId xmlns:a16="http://schemas.microsoft.com/office/drawing/2014/main" id="{1A914CB9-9944-4B1F-B858-77D0EE98177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68" t="79300" r="71604" b="17939"/>
          <a:stretch/>
        </p:blipFill>
        <p:spPr>
          <a:xfrm>
            <a:off x="5108711" y="5412260"/>
            <a:ext cx="4209535" cy="148281"/>
          </a:xfrm>
          <a:prstGeom prst="rect">
            <a:avLst/>
          </a:prstGeom>
        </p:spPr>
      </p:pic>
      <p:pic>
        <p:nvPicPr>
          <p:cNvPr id="52" name="圖片 51">
            <a:extLst>
              <a:ext uri="{FF2B5EF4-FFF2-40B4-BE49-F238E27FC236}">
                <a16:creationId xmlns:a16="http://schemas.microsoft.com/office/drawing/2014/main" id="{A9DD17E8-86D4-4B1E-A908-672CE6659AB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169" r="26664" b="77113"/>
          <a:stretch/>
        </p:blipFill>
        <p:spPr>
          <a:xfrm>
            <a:off x="5525163" y="114346"/>
            <a:ext cx="2619632" cy="1320413"/>
          </a:xfrm>
          <a:prstGeom prst="rect">
            <a:avLst/>
          </a:prstGeom>
        </p:spPr>
      </p:pic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4.</a:t>
            </a:r>
          </a:p>
        </p:txBody>
      </p:sp>
      <p:pic>
        <p:nvPicPr>
          <p:cNvPr id="25" name="圖片 24">
            <a:extLst>
              <a:ext uri="{FF2B5EF4-FFF2-40B4-BE49-F238E27FC236}">
                <a16:creationId xmlns:a16="http://schemas.microsoft.com/office/drawing/2014/main" id="{6BDD3436-A567-4493-9EC4-3C290A68DB6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5" r="42974" b="77113"/>
          <a:stretch/>
        </p:blipFill>
        <p:spPr>
          <a:xfrm>
            <a:off x="7183395" y="1337848"/>
            <a:ext cx="4572686" cy="1320413"/>
          </a:xfrm>
          <a:prstGeom prst="rect">
            <a:avLst/>
          </a:prstGeom>
        </p:spPr>
      </p:pic>
      <p:pic>
        <p:nvPicPr>
          <p:cNvPr id="26" name="圖片 25">
            <a:extLst>
              <a:ext uri="{FF2B5EF4-FFF2-40B4-BE49-F238E27FC236}">
                <a16:creationId xmlns:a16="http://schemas.microsoft.com/office/drawing/2014/main" id="{D58E3C9D-D842-4066-8987-BBF940CDE48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1241" t="29531" r="41790"/>
          <a:stretch/>
        </p:blipFill>
        <p:spPr>
          <a:xfrm>
            <a:off x="9202115" y="2733430"/>
            <a:ext cx="2557684" cy="3782044"/>
          </a:xfrm>
          <a:prstGeom prst="rect">
            <a:avLst/>
          </a:prstGeom>
        </p:spPr>
      </p:pic>
      <p:sp>
        <p:nvSpPr>
          <p:cNvPr id="28" name="內容版面配置區 2">
            <a:extLst>
              <a:ext uri="{FF2B5EF4-FFF2-40B4-BE49-F238E27FC236}">
                <a16:creationId xmlns:a16="http://schemas.microsoft.com/office/drawing/2014/main" id="{6C57FC87-924C-466F-A922-78DCD81841FA}"/>
              </a:ext>
            </a:extLst>
          </p:cNvPr>
          <p:cNvSpPr txBox="1">
            <a:spLocks/>
          </p:cNvSpPr>
          <p:nvPr/>
        </p:nvSpPr>
        <p:spPr>
          <a:xfrm>
            <a:off x="567265" y="1421149"/>
            <a:ext cx="10910359" cy="753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修改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的數值（須注意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限制檢驗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區塊）</a:t>
            </a:r>
            <a:endParaRPr lang="en-US" altLang="zh-TW" sz="1800" u="sng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差距最大的顏色、            大於目標及原始色差平均值的顏色、</a:t>
            </a:r>
            <a:endParaRPr lang="en-US" altLang="zh-TW" sz="1400" dirty="0">
              <a:solidFill>
                <a:schemeClr val="bg2">
                  <a:lumMod val="25000"/>
                </a:schemeClr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0A201C9D-5422-42C3-AD6D-F9D7A67CA26E}"/>
              </a:ext>
            </a:extLst>
          </p:cNvPr>
          <p:cNvSpPr/>
          <p:nvPr/>
        </p:nvSpPr>
        <p:spPr>
          <a:xfrm>
            <a:off x="684133" y="1893717"/>
            <a:ext cx="453073" cy="156524"/>
          </a:xfrm>
          <a:prstGeom prst="rect">
            <a:avLst/>
          </a:prstGeom>
          <a:solidFill>
            <a:srgbClr val="FF797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9" name="內容版面配置區 2">
            <a:extLst>
              <a:ext uri="{FF2B5EF4-FFF2-40B4-BE49-F238E27FC236}">
                <a16:creationId xmlns:a16="http://schemas.microsoft.com/office/drawing/2014/main" id="{8A78025D-4B20-4139-AD63-11224A24A46F}"/>
              </a:ext>
            </a:extLst>
          </p:cNvPr>
          <p:cNvSpPr txBox="1">
            <a:spLocks/>
          </p:cNvSpPr>
          <p:nvPr/>
        </p:nvSpPr>
        <p:spPr>
          <a:xfrm>
            <a:off x="567266" y="2307518"/>
            <a:ext cx="4572686" cy="412557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Mean Camera chroma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=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100 ±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0~5%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符合標準，該範例應不需調整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Saturation</a:t>
            </a: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黃、紅色系的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偏大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sRGB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比例，發現是綠色的比例出問題。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根據限制檢驗，判斷需調整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C21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與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C23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，且透過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藍色偏差趨勢判斷方向性是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+C21, -C23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（若是反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   向會變成藍色偏差）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微調數值尋找權衡解，發現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±0.15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狀況最佳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觀察是否有因上一步調整，而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產生偏差的色系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依此類推，盡量尋找各色系的權衡解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單一色系的</a:t>
            </a:r>
            <a:r>
              <a:rPr lang="el-GR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Δ</a:t>
            </a: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chroma</a:t>
            </a:r>
            <a:r>
              <a:rPr lang="zh-TW" altLang="en-US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問題</a:t>
            </a:r>
            <a:endParaRPr lang="en-US" altLang="zh-TW" sz="14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TW" sz="14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        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- 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大機率會因為上面幾步</a:t>
            </a:r>
            <a:r>
              <a:rPr lang="el-GR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Δ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的修改而有改善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281F57-1B59-4DF6-BF78-AF05218D6E0A}"/>
              </a:ext>
            </a:extLst>
          </p:cNvPr>
          <p:cNvSpPr/>
          <p:nvPr/>
        </p:nvSpPr>
        <p:spPr>
          <a:xfrm>
            <a:off x="10931611" y="3048001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FBD7E44-C4BD-4020-81BA-EB3D37220BE9}"/>
              </a:ext>
            </a:extLst>
          </p:cNvPr>
          <p:cNvSpPr/>
          <p:nvPr/>
        </p:nvSpPr>
        <p:spPr>
          <a:xfrm>
            <a:off x="10931611" y="3768814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167BB33-F2CA-4818-A969-9B568D24184D}"/>
              </a:ext>
            </a:extLst>
          </p:cNvPr>
          <p:cNvSpPr/>
          <p:nvPr/>
        </p:nvSpPr>
        <p:spPr>
          <a:xfrm>
            <a:off x="10931611" y="4070525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E95A90A9-F032-4D20-8E74-427E24B57467}"/>
              </a:ext>
            </a:extLst>
          </p:cNvPr>
          <p:cNvSpPr/>
          <p:nvPr/>
        </p:nvSpPr>
        <p:spPr>
          <a:xfrm>
            <a:off x="10931611" y="4512461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4858301-92B7-4160-955E-CA6D68AE43EF}"/>
              </a:ext>
            </a:extLst>
          </p:cNvPr>
          <p:cNvSpPr/>
          <p:nvPr/>
        </p:nvSpPr>
        <p:spPr>
          <a:xfrm>
            <a:off x="10931611" y="4954397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751776F2-74F3-471E-8938-1C3BA12F9849}"/>
              </a:ext>
            </a:extLst>
          </p:cNvPr>
          <p:cNvSpPr/>
          <p:nvPr/>
        </p:nvSpPr>
        <p:spPr>
          <a:xfrm>
            <a:off x="10931611" y="5383312"/>
            <a:ext cx="642551" cy="2059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51" name="圖片 50">
            <a:extLst>
              <a:ext uri="{FF2B5EF4-FFF2-40B4-BE49-F238E27FC236}">
                <a16:creationId xmlns:a16="http://schemas.microsoft.com/office/drawing/2014/main" id="{C795E373-815F-429A-A3CC-FCBA0F686FE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8806" t="22083" r="58077" b="70965"/>
          <a:stretch/>
        </p:blipFill>
        <p:spPr>
          <a:xfrm>
            <a:off x="7183395" y="2612929"/>
            <a:ext cx="2125362" cy="401093"/>
          </a:xfrm>
          <a:prstGeom prst="rect">
            <a:avLst/>
          </a:prstGeom>
        </p:spPr>
      </p:pic>
      <p:cxnSp>
        <p:nvCxnSpPr>
          <p:cNvPr id="4" name="直線接點 3">
            <a:extLst>
              <a:ext uri="{FF2B5EF4-FFF2-40B4-BE49-F238E27FC236}">
                <a16:creationId xmlns:a16="http://schemas.microsoft.com/office/drawing/2014/main" id="{CE0092C8-9C68-4247-BADA-B2817A4DD7D9}"/>
              </a:ext>
            </a:extLst>
          </p:cNvPr>
          <p:cNvCxnSpPr/>
          <p:nvPr/>
        </p:nvCxnSpPr>
        <p:spPr>
          <a:xfrm>
            <a:off x="5679255" y="362465"/>
            <a:ext cx="1738184" cy="37070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>
            <a:extLst>
              <a:ext uri="{FF2B5EF4-FFF2-40B4-BE49-F238E27FC236}">
                <a16:creationId xmlns:a16="http://schemas.microsoft.com/office/drawing/2014/main" id="{83F20E36-0039-4E22-A906-B3D76A332929}"/>
              </a:ext>
            </a:extLst>
          </p:cNvPr>
          <p:cNvCxnSpPr/>
          <p:nvPr/>
        </p:nvCxnSpPr>
        <p:spPr>
          <a:xfrm>
            <a:off x="5679255" y="938961"/>
            <a:ext cx="1738184" cy="370703"/>
          </a:xfrm>
          <a:prstGeom prst="line">
            <a:avLst/>
          </a:prstGeom>
          <a:ln w="1905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矩形 53">
            <a:extLst>
              <a:ext uri="{FF2B5EF4-FFF2-40B4-BE49-F238E27FC236}">
                <a16:creationId xmlns:a16="http://schemas.microsoft.com/office/drawing/2014/main" id="{14AE6E92-E85D-435F-9691-90EAAFB8A951}"/>
              </a:ext>
            </a:extLst>
          </p:cNvPr>
          <p:cNvSpPr/>
          <p:nvPr/>
        </p:nvSpPr>
        <p:spPr>
          <a:xfrm>
            <a:off x="7409201" y="308659"/>
            <a:ext cx="709140" cy="1042346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4BA0EDE-E3E6-492B-B29B-24BC8E682771}"/>
              </a:ext>
            </a:extLst>
          </p:cNvPr>
          <p:cNvSpPr txBox="1"/>
          <p:nvPr/>
        </p:nvSpPr>
        <p:spPr>
          <a:xfrm>
            <a:off x="7372866" y="1591092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C11</a:t>
            </a:r>
            <a:endParaRPr lang="zh-TW" altLang="en-US" sz="1200" b="1" dirty="0"/>
          </a:p>
        </p:txBody>
      </p:sp>
      <p:sp>
        <p:nvSpPr>
          <p:cNvPr id="55" name="文字方塊 54">
            <a:extLst>
              <a:ext uri="{FF2B5EF4-FFF2-40B4-BE49-F238E27FC236}">
                <a16:creationId xmlns:a16="http://schemas.microsoft.com/office/drawing/2014/main" id="{D511FED3-8A20-42A1-95BE-98A175A08BEC}"/>
              </a:ext>
            </a:extLst>
          </p:cNvPr>
          <p:cNvSpPr txBox="1"/>
          <p:nvPr/>
        </p:nvSpPr>
        <p:spPr>
          <a:xfrm>
            <a:off x="7990704" y="1591092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C12</a:t>
            </a:r>
            <a:endParaRPr lang="zh-TW" altLang="en-US" sz="1200" b="1" dirty="0"/>
          </a:p>
        </p:txBody>
      </p:sp>
      <p:sp>
        <p:nvSpPr>
          <p:cNvPr id="56" name="文字方塊 55">
            <a:extLst>
              <a:ext uri="{FF2B5EF4-FFF2-40B4-BE49-F238E27FC236}">
                <a16:creationId xmlns:a16="http://schemas.microsoft.com/office/drawing/2014/main" id="{D9C1FE57-093B-4A13-B635-073E6F95EEBC}"/>
              </a:ext>
            </a:extLst>
          </p:cNvPr>
          <p:cNvSpPr txBox="1"/>
          <p:nvPr/>
        </p:nvSpPr>
        <p:spPr>
          <a:xfrm>
            <a:off x="8574777" y="1591092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C13</a:t>
            </a:r>
            <a:endParaRPr lang="zh-TW" altLang="en-US" sz="1200" b="1" dirty="0"/>
          </a:p>
        </p:txBody>
      </p:sp>
      <p:sp>
        <p:nvSpPr>
          <p:cNvPr id="57" name="文字方塊 56">
            <a:extLst>
              <a:ext uri="{FF2B5EF4-FFF2-40B4-BE49-F238E27FC236}">
                <a16:creationId xmlns:a16="http://schemas.microsoft.com/office/drawing/2014/main" id="{2D72BEC6-B28A-4602-B745-4A5C1A360AC7}"/>
              </a:ext>
            </a:extLst>
          </p:cNvPr>
          <p:cNvSpPr txBox="1"/>
          <p:nvPr/>
        </p:nvSpPr>
        <p:spPr>
          <a:xfrm>
            <a:off x="7372866" y="1879416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C21</a:t>
            </a:r>
            <a:endParaRPr lang="zh-TW" altLang="en-US" sz="1200" b="1" dirty="0"/>
          </a:p>
        </p:txBody>
      </p:sp>
      <p:sp>
        <p:nvSpPr>
          <p:cNvPr id="58" name="文字方塊 57">
            <a:extLst>
              <a:ext uri="{FF2B5EF4-FFF2-40B4-BE49-F238E27FC236}">
                <a16:creationId xmlns:a16="http://schemas.microsoft.com/office/drawing/2014/main" id="{715C9F46-68C9-478B-9BB5-EC460544ABBB}"/>
              </a:ext>
            </a:extLst>
          </p:cNvPr>
          <p:cNvSpPr txBox="1"/>
          <p:nvPr/>
        </p:nvSpPr>
        <p:spPr>
          <a:xfrm>
            <a:off x="7990704" y="1879416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C22</a:t>
            </a:r>
            <a:endParaRPr lang="zh-TW" altLang="en-US" sz="1200" b="1" dirty="0"/>
          </a:p>
        </p:txBody>
      </p:sp>
      <p:sp>
        <p:nvSpPr>
          <p:cNvPr id="59" name="文字方塊 58">
            <a:extLst>
              <a:ext uri="{FF2B5EF4-FFF2-40B4-BE49-F238E27FC236}">
                <a16:creationId xmlns:a16="http://schemas.microsoft.com/office/drawing/2014/main" id="{0C7F40CC-B392-4D0F-B246-C81CF77C384E}"/>
              </a:ext>
            </a:extLst>
          </p:cNvPr>
          <p:cNvSpPr txBox="1"/>
          <p:nvPr/>
        </p:nvSpPr>
        <p:spPr>
          <a:xfrm>
            <a:off x="8574777" y="1879416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C23</a:t>
            </a:r>
            <a:endParaRPr lang="zh-TW" altLang="en-US" sz="1200" b="1" dirty="0"/>
          </a:p>
        </p:txBody>
      </p:sp>
      <p:sp>
        <p:nvSpPr>
          <p:cNvPr id="60" name="文字方塊 59">
            <a:extLst>
              <a:ext uri="{FF2B5EF4-FFF2-40B4-BE49-F238E27FC236}">
                <a16:creationId xmlns:a16="http://schemas.microsoft.com/office/drawing/2014/main" id="{5408B3FE-50E6-4D88-AA6E-5694A8B52441}"/>
              </a:ext>
            </a:extLst>
          </p:cNvPr>
          <p:cNvSpPr txBox="1"/>
          <p:nvPr/>
        </p:nvSpPr>
        <p:spPr>
          <a:xfrm>
            <a:off x="7372866" y="2161804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C31</a:t>
            </a:r>
            <a:endParaRPr lang="zh-TW" altLang="en-US" sz="1200" b="1" dirty="0"/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C56529C6-78B3-4275-89F8-AC89CEDA3D54}"/>
              </a:ext>
            </a:extLst>
          </p:cNvPr>
          <p:cNvSpPr txBox="1"/>
          <p:nvPr/>
        </p:nvSpPr>
        <p:spPr>
          <a:xfrm>
            <a:off x="7990704" y="2161804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C32</a:t>
            </a:r>
            <a:endParaRPr lang="zh-TW" altLang="en-US" sz="1200" b="1" dirty="0"/>
          </a:p>
        </p:txBody>
      </p:sp>
      <p:sp>
        <p:nvSpPr>
          <p:cNvPr id="62" name="文字方塊 61">
            <a:extLst>
              <a:ext uri="{FF2B5EF4-FFF2-40B4-BE49-F238E27FC236}">
                <a16:creationId xmlns:a16="http://schemas.microsoft.com/office/drawing/2014/main" id="{B05FBC61-8B67-4C14-8BAD-2F6C6EEFE151}"/>
              </a:ext>
            </a:extLst>
          </p:cNvPr>
          <p:cNvSpPr txBox="1"/>
          <p:nvPr/>
        </p:nvSpPr>
        <p:spPr>
          <a:xfrm>
            <a:off x="8574777" y="2161804"/>
            <a:ext cx="49427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C33</a:t>
            </a:r>
            <a:endParaRPr lang="zh-TW" altLang="en-US" sz="1200" b="1" dirty="0"/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56E8B65-B0EA-4FF8-8EA3-24D8DB6B8973}"/>
              </a:ext>
            </a:extLst>
          </p:cNvPr>
          <p:cNvSpPr txBox="1"/>
          <p:nvPr/>
        </p:nvSpPr>
        <p:spPr>
          <a:xfrm>
            <a:off x="8202459" y="263389"/>
            <a:ext cx="3725931" cy="106182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</a:pPr>
            <a:r>
              <a:rPr lang="zh-TW" altLang="en-US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限制檢驗：</a:t>
            </a:r>
            <a:endParaRPr lang="en-US" altLang="zh-TW" sz="12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indent="-228600">
              <a:spcBef>
                <a:spcPts val="600"/>
              </a:spcBef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斜對角數值與飽和度有關，</a:t>
            </a:r>
            <a:r>
              <a:rPr lang="el-GR" altLang="zh-TW" sz="12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修正</a:t>
            </a:r>
            <a:r>
              <a:rPr lang="el-GR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Δ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不要去調動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indent="-228600">
              <a:spcBef>
                <a:spcPts val="600"/>
              </a:spcBef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斜對角數值都是每列最大值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228600" indent="-228600">
              <a:spcBef>
                <a:spcPts val="600"/>
              </a:spcBef>
              <a:buAutoNum type="arabicPeriod"/>
            </a:pP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每一列加總需維持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，不等於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1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會影響灰區</a:t>
            </a:r>
            <a:r>
              <a:rPr lang="en-US" altLang="zh-TW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hue</a:t>
            </a:r>
            <a:r>
              <a:rPr lang="zh-TW" altLang="en-US" sz="12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角</a:t>
            </a:r>
            <a:endParaRPr lang="en-US" altLang="zh-TW" sz="12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63" name="矩形 62">
            <a:extLst>
              <a:ext uri="{FF2B5EF4-FFF2-40B4-BE49-F238E27FC236}">
                <a16:creationId xmlns:a16="http://schemas.microsoft.com/office/drawing/2014/main" id="{91FF1689-975C-453E-B8D1-536FEF710B3B}"/>
              </a:ext>
            </a:extLst>
          </p:cNvPr>
          <p:cNvSpPr/>
          <p:nvPr/>
        </p:nvSpPr>
        <p:spPr>
          <a:xfrm>
            <a:off x="2638110" y="1893717"/>
            <a:ext cx="453073" cy="156524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224D6DA0-76C4-49C6-85EF-04CA8156FCF4}"/>
              </a:ext>
            </a:extLst>
          </p:cNvPr>
          <p:cNvSpPr/>
          <p:nvPr/>
        </p:nvSpPr>
        <p:spPr>
          <a:xfrm>
            <a:off x="5309820" y="2173242"/>
            <a:ext cx="453073" cy="1565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14138889-821D-4F26-B12C-DD27E49CCD76}"/>
              </a:ext>
            </a:extLst>
          </p:cNvPr>
          <p:cNvSpPr txBox="1"/>
          <p:nvPr/>
        </p:nvSpPr>
        <p:spPr>
          <a:xfrm>
            <a:off x="5742187" y="2109225"/>
            <a:ext cx="172262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solidFill>
                  <a:schemeClr val="bg2">
                    <a:lumMod val="2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差距最小的顏色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4087738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內容版面配置區 2">
            <a:extLst>
              <a:ext uri="{FF2B5EF4-FFF2-40B4-BE49-F238E27FC236}">
                <a16:creationId xmlns:a16="http://schemas.microsoft.com/office/drawing/2014/main" id="{42358373-6663-42BD-BDD9-9A97C27CA764}"/>
              </a:ext>
            </a:extLst>
          </p:cNvPr>
          <p:cNvSpPr txBox="1">
            <a:spLocks/>
          </p:cNvSpPr>
          <p:nvPr/>
        </p:nvSpPr>
        <p:spPr>
          <a:xfrm>
            <a:off x="567266" y="649298"/>
            <a:ext cx="7989994" cy="5979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2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Step 5. &amp; 6.</a:t>
            </a:r>
          </a:p>
        </p:txBody>
      </p:sp>
      <p:sp>
        <p:nvSpPr>
          <p:cNvPr id="68" name="內容版面配置區 2">
            <a:extLst>
              <a:ext uri="{FF2B5EF4-FFF2-40B4-BE49-F238E27FC236}">
                <a16:creationId xmlns:a16="http://schemas.microsoft.com/office/drawing/2014/main" id="{6AA956B4-2021-4028-A44E-9612D44CB817}"/>
              </a:ext>
            </a:extLst>
          </p:cNvPr>
          <p:cNvSpPr txBox="1">
            <a:spLocks/>
          </p:cNvSpPr>
          <p:nvPr/>
        </p:nvSpPr>
        <p:spPr>
          <a:xfrm>
            <a:off x="567265" y="1421149"/>
            <a:ext cx="10910359" cy="4323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按快捷鍵</a:t>
            </a:r>
            <a:r>
              <a:rPr lang="en-US" altLang="zh-TW" sz="1800" dirty="0" err="1">
                <a:latin typeface="微軟正黑體" panose="020B0604030504040204" pitchFamily="34" charset="-120"/>
                <a:ea typeface="微軟正黑體" panose="020B0604030504040204" pitchFamily="34" charset="-120"/>
              </a:rPr>
              <a:t>ctrl+j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會更新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即時觀察色塊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，並以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色度圖及色差排序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分析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的調整結果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91F09147-FC05-4FBB-9268-76FCF7FD0B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638" t="32133" r="82865" b="527"/>
          <a:stretch/>
        </p:blipFill>
        <p:spPr>
          <a:xfrm>
            <a:off x="657831" y="1961530"/>
            <a:ext cx="774357" cy="3377513"/>
          </a:xfrm>
          <a:prstGeom prst="rect">
            <a:avLst/>
          </a:prstGeom>
        </p:spPr>
      </p:pic>
      <p:pic>
        <p:nvPicPr>
          <p:cNvPr id="10" name="圖片 9">
            <a:extLst>
              <a:ext uri="{FF2B5EF4-FFF2-40B4-BE49-F238E27FC236}">
                <a16:creationId xmlns:a16="http://schemas.microsoft.com/office/drawing/2014/main" id="{ED33F604-5CBA-4472-82A4-188EBEF3D1A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73716" t="29482" r="6824" b="13403"/>
          <a:stretch/>
        </p:blipFill>
        <p:spPr>
          <a:xfrm>
            <a:off x="1489194" y="1878913"/>
            <a:ext cx="3389903" cy="3542745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0B33BF48-7EFF-48F0-8852-1B81323848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2621" y="1915532"/>
            <a:ext cx="3424608" cy="2384620"/>
          </a:xfrm>
          <a:prstGeom prst="rect">
            <a:avLst/>
          </a:prstGeom>
        </p:spPr>
      </p:pic>
      <p:sp>
        <p:nvSpPr>
          <p:cNvPr id="15" name="文字方塊 14">
            <a:extLst>
              <a:ext uri="{FF2B5EF4-FFF2-40B4-BE49-F238E27FC236}">
                <a16:creationId xmlns:a16="http://schemas.microsoft.com/office/drawing/2014/main" id="{802EBA27-75BD-4561-A839-F24295E515E3}"/>
              </a:ext>
            </a:extLst>
          </p:cNvPr>
          <p:cNvSpPr txBox="1"/>
          <p:nvPr/>
        </p:nvSpPr>
        <p:spPr>
          <a:xfrm>
            <a:off x="8344895" y="2159429"/>
            <a:ext cx="144338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Δ</a:t>
            </a:r>
            <a:r>
              <a:rPr lang="en-US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E </a:t>
            </a:r>
            <a:r>
              <a:rPr lang="zh-TW" altLang="en-US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差距前五名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478A2EC7-A6A4-4A98-8F85-45DEB177B539}"/>
              </a:ext>
            </a:extLst>
          </p:cNvPr>
          <p:cNvSpPr txBox="1"/>
          <p:nvPr/>
        </p:nvSpPr>
        <p:spPr>
          <a:xfrm>
            <a:off x="8344895" y="2929239"/>
            <a:ext cx="1902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Δ</a:t>
            </a:r>
            <a:r>
              <a:rPr lang="en-US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chroma </a:t>
            </a:r>
            <a:r>
              <a:rPr lang="zh-TW" altLang="en-US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差距前五名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CFE42A6C-BD45-4890-BA5D-AEE659DD3E07}"/>
              </a:ext>
            </a:extLst>
          </p:cNvPr>
          <p:cNvSpPr txBox="1"/>
          <p:nvPr/>
        </p:nvSpPr>
        <p:spPr>
          <a:xfrm>
            <a:off x="8344895" y="3699049"/>
            <a:ext cx="19029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Δ</a:t>
            </a:r>
            <a:r>
              <a:rPr lang="en-US" altLang="zh-TW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hue </a:t>
            </a:r>
            <a:r>
              <a:rPr lang="zh-TW" altLang="en-US" sz="1400" dirty="0">
                <a:latin typeface="Calibri" panose="020F0502020204030204" pitchFamily="34" charset="0"/>
                <a:ea typeface="微軟正黑體" panose="020B0604030504040204" pitchFamily="34" charset="-120"/>
                <a:cs typeface="Calibri" panose="020F0502020204030204" pitchFamily="34" charset="0"/>
              </a:rPr>
              <a:t>差距前五名</a:t>
            </a:r>
            <a:endParaRPr kumimoji="1" lang="zh-TW" altLang="en-US" sz="1400" dirty="0">
              <a:solidFill>
                <a:schemeClr val="bg1">
                  <a:lumMod val="65000"/>
                </a:schemeClr>
              </a:solidFill>
              <a:latin typeface="Calibri" panose="020F0502020204030204" pitchFamily="34" charset="0"/>
              <a:ea typeface="微軟正黑體" panose="020B0604030504040204" pitchFamily="34" charset="-120"/>
              <a:cs typeface="Calibri" panose="020F0502020204030204" pitchFamily="34" charset="0"/>
            </a:endParaRPr>
          </a:p>
        </p:txBody>
      </p:sp>
      <p:sp>
        <p:nvSpPr>
          <p:cNvPr id="18" name="內容版面配置區 2">
            <a:extLst>
              <a:ext uri="{FF2B5EF4-FFF2-40B4-BE49-F238E27FC236}">
                <a16:creationId xmlns:a16="http://schemas.microsoft.com/office/drawing/2014/main" id="{C83C1D3D-9B71-425F-9CC9-AAC1DC58DF5F}"/>
              </a:ext>
            </a:extLst>
          </p:cNvPr>
          <p:cNvSpPr txBox="1">
            <a:spLocks/>
          </p:cNvSpPr>
          <p:nvPr/>
        </p:nvSpPr>
        <p:spPr>
          <a:xfrm>
            <a:off x="567265" y="5607008"/>
            <a:ext cx="10910359" cy="7912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複製</a:t>
            </a:r>
            <a:r>
              <a:rPr lang="zh-TW" altLang="en-US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調整後</a:t>
            </a:r>
            <a:r>
              <a:rPr lang="en-US" altLang="zh-TW" sz="1800" u="sng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CCM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的數值，直接貼入</a:t>
            </a:r>
            <a:r>
              <a:rPr lang="en-US" altLang="zh-TW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cc13_ope.xml</a:t>
            </a:r>
            <a:r>
              <a:rPr lang="zh-TW" altLang="en-US" sz="18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檔案中，並將參數推入手機驗證</a:t>
            </a: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>
              <a:lnSpc>
                <a:spcPct val="100000"/>
              </a:lnSpc>
            </a:pP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經實驗此模擬方法與實拍間可能因光源、</a:t>
            </a:r>
            <a:r>
              <a:rPr lang="en-US" altLang="zh-TW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gamma</a:t>
            </a:r>
            <a:r>
              <a:rPr lang="zh-TW" altLang="en-US" sz="14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不同而有誤差，但可用於模擬及趨勢觀察，實際改動以實拍為主</a:t>
            </a:r>
            <a:endParaRPr lang="en-US" altLang="zh-TW" sz="14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 altLang="zh-TW" sz="18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19" name="圖片 18">
            <a:extLst>
              <a:ext uri="{FF2B5EF4-FFF2-40B4-BE49-F238E27FC236}">
                <a16:creationId xmlns:a16="http://schemas.microsoft.com/office/drawing/2014/main" id="{085D2522-EECD-4E63-A5DD-C8CCB17AD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9691" y="4748872"/>
            <a:ext cx="5876153" cy="674072"/>
          </a:xfrm>
          <a:prstGeom prst="rect">
            <a:avLst/>
          </a:prstGeom>
        </p:spPr>
      </p:pic>
      <p:grpSp>
        <p:nvGrpSpPr>
          <p:cNvPr id="20" name="群組 19">
            <a:extLst>
              <a:ext uri="{FF2B5EF4-FFF2-40B4-BE49-F238E27FC236}">
                <a16:creationId xmlns:a16="http://schemas.microsoft.com/office/drawing/2014/main" id="{F3FE457E-55B4-4A01-A4DD-CC821153DD1C}"/>
              </a:ext>
            </a:extLst>
          </p:cNvPr>
          <p:cNvGrpSpPr/>
          <p:nvPr/>
        </p:nvGrpSpPr>
        <p:grpSpPr>
          <a:xfrm>
            <a:off x="5626633" y="4406856"/>
            <a:ext cx="1318576" cy="369332"/>
            <a:chOff x="44795" y="6032011"/>
            <a:chExt cx="1318576" cy="369332"/>
          </a:xfrm>
        </p:grpSpPr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9E60C56A-32AF-4445-9377-15FCDBD56F06}"/>
                </a:ext>
              </a:extLst>
            </p:cNvPr>
            <p:cNvSpPr/>
            <p:nvPr/>
          </p:nvSpPr>
          <p:spPr>
            <a:xfrm>
              <a:off x="66675" y="6094632"/>
              <a:ext cx="253072" cy="253072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8A668941-A288-45A9-928A-2503C3A0189F}"/>
                </a:ext>
              </a:extLst>
            </p:cNvPr>
            <p:cNvSpPr txBox="1"/>
            <p:nvPr/>
          </p:nvSpPr>
          <p:spPr>
            <a:xfrm>
              <a:off x="44795" y="6032011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/>
                <a:t>7</a:t>
              </a:r>
              <a:endParaRPr kumimoji="1" lang="zh-TW" altLang="en-US" dirty="0"/>
            </a:p>
          </p:txBody>
        </p:sp>
        <p:sp>
          <p:nvSpPr>
            <p:cNvPr id="23" name="文字方塊 22">
              <a:extLst>
                <a:ext uri="{FF2B5EF4-FFF2-40B4-BE49-F238E27FC236}">
                  <a16:creationId xmlns:a16="http://schemas.microsoft.com/office/drawing/2014/main" id="{CCAA75A7-1A7C-47C5-85BF-FFE19FF650B2}"/>
                </a:ext>
              </a:extLst>
            </p:cNvPr>
            <p:cNvSpPr txBox="1"/>
            <p:nvPr/>
          </p:nvSpPr>
          <p:spPr>
            <a:xfrm>
              <a:off x="257969" y="6051896"/>
              <a:ext cx="110540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原始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CCM</a:t>
              </a:r>
              <a:endPara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</p:grpSp>
      <p:grpSp>
        <p:nvGrpSpPr>
          <p:cNvPr id="24" name="群組 23">
            <a:extLst>
              <a:ext uri="{FF2B5EF4-FFF2-40B4-BE49-F238E27FC236}">
                <a16:creationId xmlns:a16="http://schemas.microsoft.com/office/drawing/2014/main" id="{386600A4-6500-47F4-8FFA-68DDECABC5C4}"/>
              </a:ext>
            </a:extLst>
          </p:cNvPr>
          <p:cNvGrpSpPr/>
          <p:nvPr/>
        </p:nvGrpSpPr>
        <p:grpSpPr>
          <a:xfrm>
            <a:off x="8204849" y="4401481"/>
            <a:ext cx="1515269" cy="369332"/>
            <a:chOff x="3488979" y="6040482"/>
            <a:chExt cx="1515269" cy="369332"/>
          </a:xfrm>
        </p:grpSpPr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DA4103C2-F7D7-42FA-A703-A17DEE62FFA0}"/>
                </a:ext>
              </a:extLst>
            </p:cNvPr>
            <p:cNvSpPr/>
            <p:nvPr/>
          </p:nvSpPr>
          <p:spPr>
            <a:xfrm>
              <a:off x="3510859" y="6101471"/>
              <a:ext cx="253072" cy="253072"/>
            </a:xfrm>
            <a:prstGeom prst="ellipse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TW" altLang="en-US"/>
            </a:p>
          </p:txBody>
        </p:sp>
        <p:sp>
          <p:nvSpPr>
            <p:cNvPr id="26" name="文字方塊 25">
              <a:extLst>
                <a:ext uri="{FF2B5EF4-FFF2-40B4-BE49-F238E27FC236}">
                  <a16:creationId xmlns:a16="http://schemas.microsoft.com/office/drawing/2014/main" id="{3CF53B60-63DF-413A-B338-416EF340E8E0}"/>
                </a:ext>
              </a:extLst>
            </p:cNvPr>
            <p:cNvSpPr txBox="1"/>
            <p:nvPr/>
          </p:nvSpPr>
          <p:spPr>
            <a:xfrm>
              <a:off x="3702152" y="6058735"/>
              <a:ext cx="1302096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zh-TW" altLang="en-US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調整後</a:t>
              </a:r>
              <a:r>
                <a:rPr kumimoji="1" lang="en-US" altLang="zh-TW" sz="1600" dirty="0">
                  <a:latin typeface="Microsoft JhengHei" panose="020B0604030504040204" pitchFamily="34" charset="-120"/>
                  <a:ea typeface="Microsoft JhengHei" panose="020B0604030504040204" pitchFamily="34" charset="-120"/>
                </a:rPr>
                <a:t>CCM</a:t>
              </a:r>
              <a:endParaRPr kumimoji="1" lang="zh-TW" altLang="en-US" sz="1600" dirty="0">
                <a:latin typeface="Microsoft JhengHei" panose="020B0604030504040204" pitchFamily="34" charset="-120"/>
                <a:ea typeface="Microsoft JhengHei" panose="020B0604030504040204" pitchFamily="34" charset="-120"/>
              </a:endParaRPr>
            </a:p>
          </p:txBody>
        </p:sp>
        <p:sp>
          <p:nvSpPr>
            <p:cNvPr id="27" name="文字方塊 26">
              <a:extLst>
                <a:ext uri="{FF2B5EF4-FFF2-40B4-BE49-F238E27FC236}">
                  <a16:creationId xmlns:a16="http://schemas.microsoft.com/office/drawing/2014/main" id="{C4121D3E-6306-4A4F-8290-50095AD776F1}"/>
                </a:ext>
              </a:extLst>
            </p:cNvPr>
            <p:cNvSpPr txBox="1"/>
            <p:nvPr/>
          </p:nvSpPr>
          <p:spPr>
            <a:xfrm>
              <a:off x="3488979" y="6040482"/>
              <a:ext cx="28858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zh-TW" dirty="0">
                  <a:solidFill>
                    <a:schemeClr val="bg1"/>
                  </a:solidFill>
                </a:rPr>
                <a:t>8</a:t>
              </a:r>
              <a:endParaRPr kumimoji="1" lang="zh-TW" altLang="en-US" dirty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956985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30357</TotalTime>
  <Words>1313</Words>
  <Application>Microsoft Office PowerPoint</Application>
  <PresentationFormat>寬螢幕</PresentationFormat>
  <Paragraphs>243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20" baseType="lpstr">
      <vt:lpstr>Microsoft JhengHei</vt:lpstr>
      <vt:lpstr>Microsoft JhengHei</vt:lpstr>
      <vt:lpstr>Arial</vt:lpstr>
      <vt:lpstr>Calibri</vt:lpstr>
      <vt:lpstr>Calibri Light</vt:lpstr>
      <vt:lpstr>Cambria Math</vt:lpstr>
      <vt:lpstr>Office 佈景主題</vt:lpstr>
      <vt:lpstr>PowerPoint 簡報</vt:lpstr>
      <vt:lpstr>History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TrevorEChen(陳恩)</dc:creator>
  <cp:lastModifiedBy>9290</cp:lastModifiedBy>
  <cp:revision>121</cp:revision>
  <dcterms:created xsi:type="dcterms:W3CDTF">2021-10-29T09:32:46Z</dcterms:created>
  <dcterms:modified xsi:type="dcterms:W3CDTF">2022-11-03T06:29:21Z</dcterms:modified>
</cp:coreProperties>
</file>